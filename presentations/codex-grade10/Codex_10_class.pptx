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Начните с вопроса: какую небольшую учебную задачу вы хотели бы автоматизировать? Цель занятия — научиться ставить задачу помощнику и проверять результат. Презентация рассчитана примерно на 12–15 минут объяснения и 10 минут практики. Официальный источник: https://github.com/openai/codex (README проверен 26.10.2026).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Codex — агент для задач программирования. В зависимости от среды и выданных разрешений он может читать файлы, менять проект и запускать команды. Объясните: наличие этой возможности в конкретном занятии зависит от выбранного интерфейса и доступа. В README OpenAI перечислены CLI, интеграция с редактором, приложение и веб-среда. Не обсуждаем тарифы и не обещаем доступ каждому аккаунту.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Предложите ученикам выбрать одну возможность и назвать свою задачу. Примеры не означают, что результат будет сразу правильным: Codex создаёт и выполняет код, а ученик проверяет смысл и предметные знания. Обработка файлов требует соответствующих инструментов и разрешений.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Попросите ученика пересказать цепочку. Уточните: план может быть коротким, но критерий правильности нужен до получения результата. Помощник способен сам запускать проверки, однако человеку нужно понять, что именно они проверили. Следующие слайды показывают эту цепочку на одном примере.</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Используем перемещение при прямолинейном движении с постоянным ускорением: s = v0*t + a*t^2/2. Величина s здесь — перемещение вдоль выбранной оси; при смене направления она не равна пройденному пути. На следующих слайдах параметры положительные, поэтому неоднозначности со знаком нет. Изображение — макет учебного проекта, а не работающая встроенная программа.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Прочитайте запрос и попросите найти: продукт, аудиторию, исходные величины, ограничение и критерий правильности. Подчеркните, что хороший пример проверки помогает обнаружить ошибку. Если требование непонятно, помощнику следует его уточнить. Не нужно выдавать свой пароль или открывать чужие папки.</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Все значения искусственные, рассчитаны по формуле s(t)=2t+0.5t^2. Покажите расчёт для t=2: 4+2=6. Обсудите, почему график не прямая и как связана его форма с ускорением. График в презентации нарисован векторными объектами, а не получен из реального опыта.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Пусть ученики устно посчитают три контрольных случая, прежде чем доверять результату программы. В нулевой момент перемещение нулевое; при нулевом ускорении формула упрощается до v0*t. Обсудите, что делать, если программа открылась, но считает неправильно: воспроизвести ошибку, зафиксировать ввод и ожидаемый ответ, затем попросить исправление и повторить проверку.</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Эти правила относятся к реальной работе с файлами и выполнению команд. Для урока достаточно отдельной папки и искусственных данных. Согласуйте доступ и использование инструмента с учителем. Не предлагайте ученикам вводить API-ключи в общий чат или публиковать личные данные. Обсудите, что в готовом проекте ученик должен уметь объяснить сам.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Практика выполняется в разрешённой школьной среде. 2 минуты: сформулировать запрос; 5 минут: получить и открыть прототип; 3 минуты: проверить три контрольных случая и объяснить результат партнёру. Если Codex недоступен, предложите парам составить запрос и обменяться планами проверки. Вопрос на выход: что именно вы проверили самостоятельно? Источники: https://github.com/openai/codex; дополнительная официальная документация: https://developers.openai.com/codex/.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none" lIns="0" rIns="0" tIns="0" bIns="0" anchor="t">
            <a:spAutoFit/>
          </a:bodyPr>
          <a:lstStyle/>
          <a:p>
            <a:pPr>
              <a:lnSpc>
                <a:spcPts val="1276"/>
              </a:lnSpc>
              <a:spcBef>
                <a:spcPts val="0"/>
              </a:spcBef>
              <a:spcAft>
                <a:spcPts val="0"/>
              </a:spcAft>
              <a:defRPr sz="1100" b="1">
                <a:solidFill>
                  <a:srgbClr val="007A78"/>
                </a:solidFill>
                <a:latin typeface="Arial"/>
              </a:defRPr>
            </a:pPr>
            <a:r>
              <a:t>ЗНАКОМСТВО С ИНСТРУМЕНТОМ</a:t>
            </a:r>
          </a:p>
        </p:txBody>
      </p:sp>
      <p:sp>
        <p:nvSpPr>
          <p:cNvPr id="3" name="TextBox 2"/>
          <p:cNvSpPr txBox="1"/>
          <p:nvPr/>
        </p:nvSpPr>
        <p:spPr>
          <a:xfrm>
            <a:off x="502920" y="786384"/>
            <a:ext cx="11064240" cy="594360"/>
          </a:xfrm>
          <a:prstGeom prst="rect">
            <a:avLst/>
          </a:prstGeom>
          <a:noFill/>
        </p:spPr>
        <p:txBody>
          <a:bodyPr wrap="none" lIns="0" rIns="0" tIns="0" bIns="0" anchor="t">
            <a:spAutoFit/>
          </a:bodyPr>
          <a:lstStyle/>
          <a:p>
            <a:pPr>
              <a:lnSpc>
                <a:spcPts val="3596"/>
              </a:lnSpc>
              <a:spcBef>
                <a:spcPts val="0"/>
              </a:spcBef>
              <a:spcAft>
                <a:spcPts val="0"/>
              </a:spcAft>
              <a:defRPr sz="3100" b="1">
                <a:solidFill>
                  <a:srgbClr val="172B3A"/>
                </a:solidFill>
                <a:latin typeface="Arial"/>
              </a:defRPr>
            </a:pPr>
            <a:r>
              <a:t>Codex: от идеи к работающему проекту</a:t>
            </a:r>
          </a:p>
        </p:txBody>
      </p:sp>
      <p:cxnSp>
        <p:nvCxnSpPr>
          <p:cNvPr id="4" name="Connector 3"/>
          <p:cNvCxnSpPr/>
          <p:nvPr/>
        </p:nvCxnSpPr>
        <p:spPr>
          <a:xfrm>
            <a:off x="502920" y="6382512"/>
            <a:ext cx="11183112" cy="0"/>
          </a:xfrm>
          <a:prstGeom prst="line">
            <a:avLst/>
          </a:prstGeom>
          <a:ln w="12700">
            <a:solidFill>
              <a:srgbClr val="D8E1E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382512"/>
            <a:ext cx="1118311" cy="0"/>
          </a:xfrm>
          <a:prstGeom prst="line">
            <a:avLst/>
          </a:prstGeom>
          <a:ln w="25400">
            <a:solidFill>
              <a:srgbClr val="007A7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9144000" cy="182880"/>
          </a:xfrm>
          <a:prstGeom prst="rect">
            <a:avLst/>
          </a:prstGeom>
          <a:noFill/>
        </p:spPr>
        <p:txBody>
          <a:bodyPr wrap="none" lIns="0" rIns="0" tIns="0" bIns="0" anchor="t">
            <a:spAutoFit/>
          </a:bodyPr>
          <a:lstStyle/>
          <a:p>
            <a:pPr>
              <a:lnSpc>
                <a:spcPts val="1044"/>
              </a:lnSpc>
              <a:spcBef>
                <a:spcPts val="0"/>
              </a:spcBef>
              <a:spcAft>
                <a:spcPts val="0"/>
              </a:spcAft>
              <a:defRPr sz="900" b="0">
                <a:solidFill>
                  <a:srgbClr val="4B6074"/>
                </a:solidFill>
                <a:latin typeface="Arial"/>
              </a:defRPr>
            </a:pPr>
            <a:r>
              <a:t>ВОЗМОЖНОСТИ CODEX • ИНФОРМАТИКА • 10 КЛАСС</a:t>
            </a:r>
          </a:p>
        </p:txBody>
      </p:sp>
      <p:sp>
        <p:nvSpPr>
          <p:cNvPr id="7" name="TextBox 6"/>
          <p:cNvSpPr txBox="1"/>
          <p:nvPr/>
        </p:nvSpPr>
        <p:spPr>
          <a:xfrm>
            <a:off x="11119104" y="6492240"/>
            <a:ext cx="594360" cy="228600"/>
          </a:xfrm>
          <a:prstGeom prst="rect">
            <a:avLst/>
          </a:prstGeom>
          <a:noFill/>
        </p:spPr>
        <p:txBody>
          <a:bodyPr wrap="none" lIns="0" rIns="0" tIns="0" bIns="0" anchor="t">
            <a:spAutoFit/>
          </a:bodyPr>
          <a:lstStyle/>
          <a:p>
            <a:pPr>
              <a:lnSpc>
                <a:spcPts val="1160"/>
              </a:lnSpc>
              <a:spcBef>
                <a:spcPts val="0"/>
              </a:spcBef>
              <a:spcAft>
                <a:spcPts val="0"/>
              </a:spcAft>
              <a:defRPr sz="1000" b="1">
                <a:solidFill>
                  <a:srgbClr val="4B6074"/>
                </a:solidFill>
                <a:latin typeface="Arial"/>
              </a:defRPr>
            </a:pPr>
            <a:r>
              <a:t>01 / 10</a:t>
            </a:r>
          </a:p>
        </p:txBody>
      </p:sp>
      <p:sp>
        <p:nvSpPr>
          <p:cNvPr id="8" name="TextBox 7"/>
          <p:cNvSpPr txBox="1"/>
          <p:nvPr/>
        </p:nvSpPr>
        <p:spPr>
          <a:xfrm>
            <a:off x="566928" y="1920240"/>
            <a:ext cx="5577840" cy="960120"/>
          </a:xfrm>
          <a:prstGeom prst="rect">
            <a:avLst/>
          </a:prstGeom>
          <a:noFill/>
        </p:spPr>
        <p:txBody>
          <a:bodyPr wrap="none" lIns="0" rIns="0" tIns="0" bIns="0" anchor="t">
            <a:spAutoFit/>
          </a:bodyPr>
          <a:lstStyle/>
          <a:p>
            <a:pPr>
              <a:lnSpc>
                <a:spcPts val="3247"/>
              </a:lnSpc>
              <a:spcBef>
                <a:spcPts val="0"/>
              </a:spcBef>
              <a:spcAft>
                <a:spcPts val="0"/>
              </a:spcAft>
              <a:defRPr sz="2800" b="1">
                <a:solidFill>
                  <a:srgbClr val="172B3A"/>
                </a:solidFill>
                <a:latin typeface="Arial"/>
              </a:defRPr>
            </a:pPr>
            <a:r>
              <a:t>Помощник OpenAI для работы</a:t>
            </a:r>
          </a:p>
          <a:p>
            <a:pPr>
              <a:lnSpc>
                <a:spcPts val="3247"/>
              </a:lnSpc>
              <a:spcBef>
                <a:spcPts val="0"/>
              </a:spcBef>
              <a:spcAft>
                <a:spcPts val="0"/>
              </a:spcAft>
              <a:defRPr sz="2800" b="1">
                <a:solidFill>
                  <a:srgbClr val="172B3A"/>
                </a:solidFill>
                <a:latin typeface="Arial"/>
              </a:defRPr>
            </a:pPr>
            <a:r>
              <a:t>с кодом и файлами проекта</a:t>
            </a:r>
          </a:p>
        </p:txBody>
      </p:sp>
      <p:sp>
        <p:nvSpPr>
          <p:cNvPr id="9" name="TextBox 8"/>
          <p:cNvSpPr txBox="1"/>
          <p:nvPr/>
        </p:nvSpPr>
        <p:spPr>
          <a:xfrm>
            <a:off x="576072" y="3273552"/>
            <a:ext cx="5166360" cy="1143000"/>
          </a:xfrm>
          <a:prstGeom prst="rect">
            <a:avLst/>
          </a:prstGeom>
          <a:noFill/>
        </p:spPr>
        <p:txBody>
          <a:bodyPr wrap="none" lIns="0" rIns="0" tIns="0" bIns="0" anchor="t">
            <a:spAutoFit/>
          </a:bodyPr>
          <a:lstStyle/>
          <a:p>
            <a:pPr>
              <a:lnSpc>
                <a:spcPts val="2552"/>
              </a:lnSpc>
              <a:spcBef>
                <a:spcPts val="0"/>
              </a:spcBef>
              <a:spcAft>
                <a:spcPts val="0"/>
              </a:spcAft>
              <a:defRPr sz="2200" b="0">
                <a:solidFill>
                  <a:srgbClr val="4B6074"/>
                </a:solidFill>
                <a:latin typeface="Arial"/>
              </a:defRPr>
            </a:pPr>
            <a:r>
              <a:t>Научимся формулировать запрос,</a:t>
            </a:r>
          </a:p>
          <a:p>
            <a:pPr>
              <a:lnSpc>
                <a:spcPts val="2552"/>
              </a:lnSpc>
              <a:spcBef>
                <a:spcPts val="0"/>
              </a:spcBef>
              <a:spcAft>
                <a:spcPts val="0"/>
              </a:spcAft>
              <a:defRPr sz="2200" b="0">
                <a:solidFill>
                  <a:srgbClr val="4B6074"/>
                </a:solidFill>
                <a:latin typeface="Arial"/>
              </a:defRPr>
            </a:pPr>
            <a:r>
              <a:t>создавать учебный прототип</a:t>
            </a:r>
          </a:p>
          <a:p>
            <a:pPr>
              <a:lnSpc>
                <a:spcPts val="2552"/>
              </a:lnSpc>
              <a:spcBef>
                <a:spcPts val="0"/>
              </a:spcBef>
              <a:spcAft>
                <a:spcPts val="0"/>
              </a:spcAft>
              <a:defRPr sz="2200" b="0">
                <a:solidFill>
                  <a:srgbClr val="4B6074"/>
                </a:solidFill>
                <a:latin typeface="Arial"/>
              </a:defRPr>
            </a:pPr>
            <a:r>
              <a:t>и проверять его своими руками.</a:t>
            </a:r>
          </a:p>
        </p:txBody>
      </p:sp>
      <p:sp>
        <p:nvSpPr>
          <p:cNvPr id="10" name="Rounded Rectangle 9"/>
          <p:cNvSpPr/>
          <p:nvPr/>
        </p:nvSpPr>
        <p:spPr>
          <a:xfrm>
            <a:off x="576072" y="4937760"/>
            <a:ext cx="5029200" cy="704088"/>
          </a:xfrm>
          <a:prstGeom prst="roundRect">
            <a:avLst>
              <a:gd name="adj" fmla="val 12000"/>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102352"/>
            <a:ext cx="4663440" cy="365760"/>
          </a:xfrm>
          <a:prstGeom prst="rect">
            <a:avLst/>
          </a:prstGeom>
          <a:noFill/>
        </p:spPr>
        <p:txBody>
          <a:bodyPr wrap="none" lIns="0" rIns="0" tIns="0" bIns="0" anchor="t">
            <a:spAutoFit/>
          </a:bodyPr>
          <a:lstStyle/>
          <a:p>
            <a:pPr>
              <a:lnSpc>
                <a:spcPts val="2204"/>
              </a:lnSpc>
              <a:spcBef>
                <a:spcPts val="0"/>
              </a:spcBef>
              <a:spcAft>
                <a:spcPts val="0"/>
              </a:spcAft>
              <a:defRPr sz="1900" b="1">
                <a:solidFill>
                  <a:srgbClr val="FFFFFF"/>
                </a:solidFill>
                <a:latin typeface="Arial"/>
              </a:defRPr>
            </a:pPr>
            <a:r>
              <a:t>Задавай цель. Проверяй результат.</a:t>
            </a:r>
          </a:p>
        </p:txBody>
      </p:sp>
      <p:sp>
        <p:nvSpPr>
          <p:cNvPr id="12" name="Rounded Rectangle 11"/>
          <p:cNvSpPr/>
          <p:nvPr/>
        </p:nvSpPr>
        <p:spPr>
          <a:xfrm>
            <a:off x="6446520" y="1938528"/>
            <a:ext cx="5010912" cy="3602736"/>
          </a:xfrm>
          <a:prstGeom prst="roundRect">
            <a:avLst>
              <a:gd name="adj" fmla="val 12000"/>
            </a:avLst>
          </a:prstGeom>
          <a:solidFill>
            <a:srgbClr val="14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19011" y="2201875"/>
            <a:ext cx="95097" cy="95097"/>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920179" y="2201875"/>
            <a:ext cx="95097" cy="95097"/>
          </a:xfrm>
          <a:prstGeom prst="ellipse">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21347" y="2201875"/>
            <a:ext cx="95097" cy="95097"/>
          </a:xfrm>
          <a:prstGeom prst="ellipse">
            <a:avLst/>
          </a:prstGeom>
          <a:solidFill>
            <a:srgbClr val="965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670048"/>
            <a:ext cx="4343400" cy="457200"/>
          </a:xfrm>
          <a:prstGeom prst="rect">
            <a:avLst/>
          </a:prstGeom>
          <a:noFill/>
        </p:spPr>
        <p:txBody>
          <a:bodyPr wrap="none" lIns="0" rIns="0" tIns="0" bIns="0" anchor="t">
            <a:spAutoFit/>
          </a:bodyPr>
          <a:lstStyle/>
          <a:p>
            <a:pPr>
              <a:lnSpc>
                <a:spcPts val="2668"/>
              </a:lnSpc>
              <a:spcBef>
                <a:spcPts val="0"/>
              </a:spcBef>
              <a:spcAft>
                <a:spcPts val="0"/>
              </a:spcAft>
              <a:defRPr sz="2300" b="1">
                <a:solidFill>
                  <a:srgbClr val="FFFFFF"/>
                </a:solidFill>
                <a:latin typeface="Arial"/>
              </a:defRPr>
            </a:pPr>
            <a:r>
              <a:t>&gt; учебный_проект</a:t>
            </a:r>
          </a:p>
        </p:txBody>
      </p:sp>
      <p:sp>
        <p:nvSpPr>
          <p:cNvPr id="17" name="TextBox 16"/>
          <p:cNvSpPr txBox="1"/>
          <p:nvPr/>
        </p:nvSpPr>
        <p:spPr>
          <a:xfrm>
            <a:off x="6784848" y="3383280"/>
            <a:ext cx="4206240" cy="365760"/>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FFFFFF"/>
                </a:solidFill>
                <a:latin typeface="Arial"/>
              </a:defRPr>
            </a:pPr>
            <a:r>
              <a:t>01 понятная задача</a:t>
            </a:r>
          </a:p>
        </p:txBody>
      </p:sp>
      <p:sp>
        <p:nvSpPr>
          <p:cNvPr id="18" name="TextBox 17"/>
          <p:cNvSpPr txBox="1"/>
          <p:nvPr/>
        </p:nvSpPr>
        <p:spPr>
          <a:xfrm>
            <a:off x="6784848" y="3931920"/>
            <a:ext cx="4206240" cy="365760"/>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FFFFFF"/>
                </a:solidFill>
                <a:latin typeface="Arial"/>
              </a:defRPr>
            </a:pPr>
            <a:r>
              <a:t>02 файлы и изменения</a:t>
            </a:r>
          </a:p>
        </p:txBody>
      </p:sp>
      <p:sp>
        <p:nvSpPr>
          <p:cNvPr id="19" name="TextBox 18"/>
          <p:cNvSpPr txBox="1"/>
          <p:nvPr/>
        </p:nvSpPr>
        <p:spPr>
          <a:xfrm>
            <a:off x="6784848" y="4480560"/>
            <a:ext cx="4206240" cy="365760"/>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FFFFFF"/>
                </a:solidFill>
                <a:latin typeface="Arial"/>
              </a:defRPr>
            </a:pPr>
            <a:r>
              <a:t>03 проверка результата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none" lIns="0" rIns="0" tIns="0" bIns="0" anchor="t">
            <a:spAutoFit/>
          </a:bodyPr>
          <a:lstStyle/>
          <a:p>
            <a:pPr>
              <a:lnSpc>
                <a:spcPts val="1276"/>
              </a:lnSpc>
              <a:spcBef>
                <a:spcPts val="0"/>
              </a:spcBef>
              <a:spcAft>
                <a:spcPts val="0"/>
              </a:spcAft>
              <a:defRPr sz="1100" b="1">
                <a:solidFill>
                  <a:srgbClr val="007A78"/>
                </a:solidFill>
                <a:latin typeface="Arial"/>
              </a:defRPr>
            </a:pPr>
            <a:r>
              <a:t>ПОНИМАЕМ НАЗНАЧЕНИЕ</a:t>
            </a:r>
          </a:p>
        </p:txBody>
      </p:sp>
      <p:sp>
        <p:nvSpPr>
          <p:cNvPr id="3" name="TextBox 2"/>
          <p:cNvSpPr txBox="1"/>
          <p:nvPr/>
        </p:nvSpPr>
        <p:spPr>
          <a:xfrm>
            <a:off x="502920" y="786384"/>
            <a:ext cx="11064240" cy="594360"/>
          </a:xfrm>
          <a:prstGeom prst="rect">
            <a:avLst/>
          </a:prstGeom>
          <a:noFill/>
        </p:spPr>
        <p:txBody>
          <a:bodyPr wrap="none" lIns="0" rIns="0" tIns="0" bIns="0" anchor="t">
            <a:spAutoFit/>
          </a:bodyPr>
          <a:lstStyle/>
          <a:p>
            <a:pPr>
              <a:lnSpc>
                <a:spcPts val="3596"/>
              </a:lnSpc>
              <a:spcBef>
                <a:spcPts val="0"/>
              </a:spcBef>
              <a:spcAft>
                <a:spcPts val="0"/>
              </a:spcAft>
              <a:defRPr sz="3100" b="1">
                <a:solidFill>
                  <a:srgbClr val="172B3A"/>
                </a:solidFill>
                <a:latin typeface="Arial"/>
              </a:defRPr>
            </a:pPr>
            <a:r>
              <a:t>Что такое Codex</a:t>
            </a:r>
          </a:p>
        </p:txBody>
      </p:sp>
      <p:sp>
        <p:nvSpPr>
          <p:cNvPr id="4" name="TextBox 3"/>
          <p:cNvSpPr txBox="1"/>
          <p:nvPr/>
        </p:nvSpPr>
        <p:spPr>
          <a:xfrm>
            <a:off x="521207" y="1444752"/>
            <a:ext cx="10972800" cy="502920"/>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Ты описываешь задачу — помощник работает с проектом в доступной ему среде.</a:t>
            </a:r>
          </a:p>
        </p:txBody>
      </p:sp>
      <p:cxnSp>
        <p:nvCxnSpPr>
          <p:cNvPr id="5" name="Connector 4"/>
          <p:cNvCxnSpPr/>
          <p:nvPr/>
        </p:nvCxnSpPr>
        <p:spPr>
          <a:xfrm>
            <a:off x="502920" y="6382512"/>
            <a:ext cx="11183112" cy="0"/>
          </a:xfrm>
          <a:prstGeom prst="line">
            <a:avLst/>
          </a:prstGeom>
          <a:ln w="12700">
            <a:solidFill>
              <a:srgbClr val="D8E1E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382512"/>
            <a:ext cx="2236622" cy="0"/>
          </a:xfrm>
          <a:prstGeom prst="line">
            <a:avLst/>
          </a:prstGeom>
          <a:ln w="25400">
            <a:solidFill>
              <a:srgbClr val="007A7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9672"/>
            <a:ext cx="9144000" cy="182880"/>
          </a:xfrm>
          <a:prstGeom prst="rect">
            <a:avLst/>
          </a:prstGeom>
          <a:noFill/>
        </p:spPr>
        <p:txBody>
          <a:bodyPr wrap="none" lIns="0" rIns="0" tIns="0" bIns="0" anchor="t">
            <a:spAutoFit/>
          </a:bodyPr>
          <a:lstStyle/>
          <a:p>
            <a:pPr>
              <a:lnSpc>
                <a:spcPts val="1044"/>
              </a:lnSpc>
              <a:spcBef>
                <a:spcPts val="0"/>
              </a:spcBef>
              <a:spcAft>
                <a:spcPts val="0"/>
              </a:spcAft>
              <a:defRPr sz="900" b="0">
                <a:solidFill>
                  <a:srgbClr val="4B6074"/>
                </a:solidFill>
                <a:latin typeface="Arial"/>
              </a:defRPr>
            </a:pPr>
            <a:r>
              <a:t>ВОЗМОЖНОСТИ CODEX • ИНФОРМАТИКА • 10 КЛАСС</a:t>
            </a:r>
          </a:p>
        </p:txBody>
      </p:sp>
      <p:sp>
        <p:nvSpPr>
          <p:cNvPr id="8" name="TextBox 7"/>
          <p:cNvSpPr txBox="1"/>
          <p:nvPr/>
        </p:nvSpPr>
        <p:spPr>
          <a:xfrm>
            <a:off x="11119104" y="6492240"/>
            <a:ext cx="594360" cy="228600"/>
          </a:xfrm>
          <a:prstGeom prst="rect">
            <a:avLst/>
          </a:prstGeom>
          <a:noFill/>
        </p:spPr>
        <p:txBody>
          <a:bodyPr wrap="none" lIns="0" rIns="0" tIns="0" bIns="0" anchor="t">
            <a:spAutoFit/>
          </a:bodyPr>
          <a:lstStyle/>
          <a:p>
            <a:pPr>
              <a:lnSpc>
                <a:spcPts val="1160"/>
              </a:lnSpc>
              <a:spcBef>
                <a:spcPts val="0"/>
              </a:spcBef>
              <a:spcAft>
                <a:spcPts val="0"/>
              </a:spcAft>
              <a:defRPr sz="1000" b="1">
                <a:solidFill>
                  <a:srgbClr val="4B6074"/>
                </a:solidFill>
                <a:latin typeface="Arial"/>
              </a:defRPr>
            </a:pPr>
            <a:r>
              <a:t>02 / 10</a:t>
            </a:r>
          </a:p>
        </p:txBody>
      </p:sp>
      <p:sp>
        <p:nvSpPr>
          <p:cNvPr id="9" name="Rounded Rectangle 8"/>
          <p:cNvSpPr/>
          <p:nvPr/>
        </p:nvSpPr>
        <p:spPr>
          <a:xfrm>
            <a:off x="548640" y="2304288"/>
            <a:ext cx="3520440" cy="2423160"/>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42032"/>
            <a:ext cx="306324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01</a:t>
            </a:r>
          </a:p>
        </p:txBody>
      </p:sp>
      <p:sp>
        <p:nvSpPr>
          <p:cNvPr id="11" name="TextBox 10"/>
          <p:cNvSpPr txBox="1"/>
          <p:nvPr/>
        </p:nvSpPr>
        <p:spPr>
          <a:xfrm>
            <a:off x="777240" y="3163824"/>
            <a:ext cx="306324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Читает</a:t>
            </a:r>
          </a:p>
        </p:txBody>
      </p:sp>
      <p:sp>
        <p:nvSpPr>
          <p:cNvPr id="12" name="TextBox 11"/>
          <p:cNvSpPr txBox="1"/>
          <p:nvPr/>
        </p:nvSpPr>
        <p:spPr>
          <a:xfrm>
            <a:off x="777240" y="3886200"/>
            <a:ext cx="3063240" cy="704087"/>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Разбирается в файлах</a:t>
            </a:r>
          </a:p>
          <a:p>
            <a:pPr>
              <a:lnSpc>
                <a:spcPts val="2088"/>
              </a:lnSpc>
              <a:spcBef>
                <a:spcPts val="0"/>
              </a:spcBef>
              <a:spcAft>
                <a:spcPts val="0"/>
              </a:spcAft>
              <a:defRPr sz="1800" b="0">
                <a:solidFill>
                  <a:srgbClr val="4B6074"/>
                </a:solidFill>
                <a:latin typeface="Arial"/>
              </a:defRPr>
            </a:pPr>
            <a:r>
              <a:t>и объясняет код.</a:t>
            </a:r>
          </a:p>
        </p:txBody>
      </p:sp>
      <p:sp>
        <p:nvSpPr>
          <p:cNvPr id="13" name="Rounded Rectangle 12"/>
          <p:cNvSpPr/>
          <p:nvPr/>
        </p:nvSpPr>
        <p:spPr>
          <a:xfrm>
            <a:off x="4334256" y="2304288"/>
            <a:ext cx="3520440" cy="2423160"/>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2856" y="2542032"/>
            <a:ext cx="306324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02</a:t>
            </a:r>
          </a:p>
        </p:txBody>
      </p:sp>
      <p:sp>
        <p:nvSpPr>
          <p:cNvPr id="15" name="TextBox 14"/>
          <p:cNvSpPr txBox="1"/>
          <p:nvPr/>
        </p:nvSpPr>
        <p:spPr>
          <a:xfrm>
            <a:off x="4562856" y="3163824"/>
            <a:ext cx="306324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Изменяет</a:t>
            </a:r>
          </a:p>
        </p:txBody>
      </p:sp>
      <p:sp>
        <p:nvSpPr>
          <p:cNvPr id="16" name="TextBox 15"/>
          <p:cNvSpPr txBox="1"/>
          <p:nvPr/>
        </p:nvSpPr>
        <p:spPr>
          <a:xfrm>
            <a:off x="4562856" y="3886200"/>
            <a:ext cx="3063240" cy="704087"/>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Создаёт файлы</a:t>
            </a:r>
          </a:p>
          <a:p>
            <a:pPr>
              <a:lnSpc>
                <a:spcPts val="2088"/>
              </a:lnSpc>
              <a:spcBef>
                <a:spcPts val="0"/>
              </a:spcBef>
              <a:spcAft>
                <a:spcPts val="0"/>
              </a:spcAft>
              <a:defRPr sz="1800" b="0">
                <a:solidFill>
                  <a:srgbClr val="4B6074"/>
                </a:solidFill>
                <a:latin typeface="Arial"/>
              </a:defRPr>
            </a:pPr>
            <a:r>
              <a:t>и предлагает исправления.</a:t>
            </a:r>
          </a:p>
        </p:txBody>
      </p:sp>
      <p:sp>
        <p:nvSpPr>
          <p:cNvPr id="17" name="Rounded Rectangle 16"/>
          <p:cNvSpPr/>
          <p:nvPr/>
        </p:nvSpPr>
        <p:spPr>
          <a:xfrm>
            <a:off x="8119872" y="2304288"/>
            <a:ext cx="3520440" cy="2423160"/>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8472" y="2542032"/>
            <a:ext cx="306324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03</a:t>
            </a:r>
          </a:p>
        </p:txBody>
      </p:sp>
      <p:sp>
        <p:nvSpPr>
          <p:cNvPr id="19" name="TextBox 18"/>
          <p:cNvSpPr txBox="1"/>
          <p:nvPr/>
        </p:nvSpPr>
        <p:spPr>
          <a:xfrm>
            <a:off x="8348472" y="3163824"/>
            <a:ext cx="306324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Проверяет</a:t>
            </a:r>
          </a:p>
        </p:txBody>
      </p:sp>
      <p:sp>
        <p:nvSpPr>
          <p:cNvPr id="20" name="TextBox 19"/>
          <p:cNvSpPr txBox="1"/>
          <p:nvPr/>
        </p:nvSpPr>
        <p:spPr>
          <a:xfrm>
            <a:off x="8348472" y="3886200"/>
            <a:ext cx="3063240" cy="704087"/>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Запускает команды</a:t>
            </a:r>
          </a:p>
          <a:p>
            <a:pPr>
              <a:lnSpc>
                <a:spcPts val="2088"/>
              </a:lnSpc>
              <a:spcBef>
                <a:spcPts val="0"/>
              </a:spcBef>
              <a:spcAft>
                <a:spcPts val="0"/>
              </a:spcAft>
              <a:defRPr sz="1800" b="0">
                <a:solidFill>
                  <a:srgbClr val="4B6074"/>
                </a:solidFill>
                <a:latin typeface="Arial"/>
              </a:defRPr>
            </a:pPr>
            <a:r>
              <a:t>и тесты, если есть доступ.</a:t>
            </a:r>
          </a:p>
        </p:txBody>
      </p:sp>
      <p:sp>
        <p:nvSpPr>
          <p:cNvPr id="21" name="Rounded Rectangle 20"/>
          <p:cNvSpPr/>
          <p:nvPr/>
        </p:nvSpPr>
        <p:spPr>
          <a:xfrm>
            <a:off x="548640" y="5084064"/>
            <a:ext cx="11091672" cy="640080"/>
          </a:xfrm>
          <a:prstGeom prst="roundRect">
            <a:avLst>
              <a:gd name="adj" fmla="val 12000"/>
            </a:avLst>
          </a:prstGeom>
          <a:solidFill>
            <a:srgbClr val="E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5257800"/>
            <a:ext cx="10561320" cy="365760"/>
          </a:xfrm>
          <a:prstGeom prst="rect">
            <a:avLst/>
          </a:prstGeom>
          <a:noFill/>
        </p:spPr>
        <p:txBody>
          <a:bodyPr wrap="none" lIns="0" rIns="0" tIns="0" bIns="0" anchor="t">
            <a:spAutoFit/>
          </a:bodyPr>
          <a:lstStyle/>
          <a:p>
            <a:pPr>
              <a:lnSpc>
                <a:spcPts val="2204"/>
              </a:lnSpc>
              <a:spcBef>
                <a:spcPts val="0"/>
              </a:spcBef>
              <a:spcAft>
                <a:spcPts val="0"/>
              </a:spcAft>
              <a:defRPr sz="1900" b="1">
                <a:solidFill>
                  <a:srgbClr val="007A78"/>
                </a:solidFill>
                <a:latin typeface="Arial"/>
              </a:defRPr>
            </a:pPr>
            <a:r>
              <a:t>Способ работы: редактор кода, терминал, приложение или веб-среда.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none" lIns="0" rIns="0" tIns="0" bIns="0" anchor="t">
            <a:spAutoFit/>
          </a:bodyPr>
          <a:lstStyle/>
          <a:p>
            <a:pPr>
              <a:lnSpc>
                <a:spcPts val="1276"/>
              </a:lnSpc>
              <a:spcBef>
                <a:spcPts val="0"/>
              </a:spcBef>
              <a:spcAft>
                <a:spcPts val="0"/>
              </a:spcAft>
              <a:defRPr sz="1100" b="1">
                <a:solidFill>
                  <a:srgbClr val="007A78"/>
                </a:solidFill>
                <a:latin typeface="Arial"/>
              </a:defRPr>
            </a:pPr>
            <a:r>
              <a:t>ВОЗМОЖНОСТИ НА ПОНЯТНЫХ ЗАДАЧАХ</a:t>
            </a:r>
          </a:p>
        </p:txBody>
      </p:sp>
      <p:sp>
        <p:nvSpPr>
          <p:cNvPr id="3" name="TextBox 2"/>
          <p:cNvSpPr txBox="1"/>
          <p:nvPr/>
        </p:nvSpPr>
        <p:spPr>
          <a:xfrm>
            <a:off x="502920" y="786384"/>
            <a:ext cx="11064240" cy="594360"/>
          </a:xfrm>
          <a:prstGeom prst="rect">
            <a:avLst/>
          </a:prstGeom>
          <a:noFill/>
        </p:spPr>
        <p:txBody>
          <a:bodyPr wrap="none" lIns="0" rIns="0" tIns="0" bIns="0" anchor="t">
            <a:spAutoFit/>
          </a:bodyPr>
          <a:lstStyle/>
          <a:p>
            <a:pPr>
              <a:lnSpc>
                <a:spcPts val="3596"/>
              </a:lnSpc>
              <a:spcBef>
                <a:spcPts val="0"/>
              </a:spcBef>
              <a:spcAft>
                <a:spcPts val="0"/>
              </a:spcAft>
              <a:defRPr sz="3100" b="1">
                <a:solidFill>
                  <a:srgbClr val="172B3A"/>
                </a:solidFill>
                <a:latin typeface="Arial"/>
              </a:defRPr>
            </a:pPr>
            <a:r>
              <a:t>Чем он полезен в учёбе</a:t>
            </a:r>
          </a:p>
        </p:txBody>
      </p:sp>
      <p:cxnSp>
        <p:nvCxnSpPr>
          <p:cNvPr id="4" name="Connector 3"/>
          <p:cNvCxnSpPr/>
          <p:nvPr/>
        </p:nvCxnSpPr>
        <p:spPr>
          <a:xfrm>
            <a:off x="502920" y="6382512"/>
            <a:ext cx="11183112" cy="0"/>
          </a:xfrm>
          <a:prstGeom prst="line">
            <a:avLst/>
          </a:prstGeom>
          <a:ln w="12700">
            <a:solidFill>
              <a:srgbClr val="D8E1E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382512"/>
            <a:ext cx="3354933" cy="0"/>
          </a:xfrm>
          <a:prstGeom prst="line">
            <a:avLst/>
          </a:prstGeom>
          <a:ln w="25400">
            <a:solidFill>
              <a:srgbClr val="007A7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9144000" cy="182880"/>
          </a:xfrm>
          <a:prstGeom prst="rect">
            <a:avLst/>
          </a:prstGeom>
          <a:noFill/>
        </p:spPr>
        <p:txBody>
          <a:bodyPr wrap="none" lIns="0" rIns="0" tIns="0" bIns="0" anchor="t">
            <a:spAutoFit/>
          </a:bodyPr>
          <a:lstStyle/>
          <a:p>
            <a:pPr>
              <a:lnSpc>
                <a:spcPts val="1044"/>
              </a:lnSpc>
              <a:spcBef>
                <a:spcPts val="0"/>
              </a:spcBef>
              <a:spcAft>
                <a:spcPts val="0"/>
              </a:spcAft>
              <a:defRPr sz="900" b="0">
                <a:solidFill>
                  <a:srgbClr val="4B6074"/>
                </a:solidFill>
                <a:latin typeface="Arial"/>
              </a:defRPr>
            </a:pPr>
            <a:r>
              <a:t>ВОЗМОЖНОСТИ CODEX • ИНФОРМАТИКА • 10 КЛАСС</a:t>
            </a:r>
          </a:p>
        </p:txBody>
      </p:sp>
      <p:sp>
        <p:nvSpPr>
          <p:cNvPr id="7" name="TextBox 6"/>
          <p:cNvSpPr txBox="1"/>
          <p:nvPr/>
        </p:nvSpPr>
        <p:spPr>
          <a:xfrm>
            <a:off x="11119104" y="6492240"/>
            <a:ext cx="594360" cy="228600"/>
          </a:xfrm>
          <a:prstGeom prst="rect">
            <a:avLst/>
          </a:prstGeom>
          <a:noFill/>
        </p:spPr>
        <p:txBody>
          <a:bodyPr wrap="none" lIns="0" rIns="0" tIns="0" bIns="0" anchor="t">
            <a:spAutoFit/>
          </a:bodyPr>
          <a:lstStyle/>
          <a:p>
            <a:pPr>
              <a:lnSpc>
                <a:spcPts val="1160"/>
              </a:lnSpc>
              <a:spcBef>
                <a:spcPts val="0"/>
              </a:spcBef>
              <a:spcAft>
                <a:spcPts val="0"/>
              </a:spcAft>
              <a:defRPr sz="1000" b="1">
                <a:solidFill>
                  <a:srgbClr val="4B6074"/>
                </a:solidFill>
                <a:latin typeface="Arial"/>
              </a:defRPr>
            </a:pPr>
            <a:r>
              <a:t>03 / 10</a:t>
            </a:r>
          </a:p>
        </p:txBody>
      </p:sp>
      <p:sp>
        <p:nvSpPr>
          <p:cNvPr id="8" name="Rounded Rectangle 7"/>
          <p:cNvSpPr/>
          <p:nvPr/>
        </p:nvSpPr>
        <p:spPr>
          <a:xfrm>
            <a:off x="548640" y="1920240"/>
            <a:ext cx="3520440" cy="3063240"/>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57984"/>
            <a:ext cx="306324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a:t>
            </a:r>
          </a:p>
        </p:txBody>
      </p:sp>
      <p:sp>
        <p:nvSpPr>
          <p:cNvPr id="10" name="TextBox 9"/>
          <p:cNvSpPr txBox="1"/>
          <p:nvPr/>
        </p:nvSpPr>
        <p:spPr>
          <a:xfrm>
            <a:off x="777240" y="2779776"/>
            <a:ext cx="306324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Разобрать</a:t>
            </a:r>
          </a:p>
        </p:txBody>
      </p:sp>
      <p:sp>
        <p:nvSpPr>
          <p:cNvPr id="11" name="TextBox 10"/>
          <p:cNvSpPr txBox="1"/>
          <p:nvPr/>
        </p:nvSpPr>
        <p:spPr>
          <a:xfrm>
            <a:off x="777240" y="3502152"/>
            <a:ext cx="3063240" cy="1344167"/>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Объяснить ошибку</a:t>
            </a:r>
          </a:p>
          <a:p>
            <a:pPr>
              <a:lnSpc>
                <a:spcPts val="2088"/>
              </a:lnSpc>
              <a:spcBef>
                <a:spcPts val="0"/>
              </a:spcBef>
              <a:spcAft>
                <a:spcPts val="0"/>
              </a:spcAft>
              <a:defRPr sz="1800" b="0">
                <a:solidFill>
                  <a:srgbClr val="4B6074"/>
                </a:solidFill>
                <a:latin typeface="Arial"/>
              </a:defRPr>
            </a:pPr>
            <a:r>
              <a:t>в Python и показать,</a:t>
            </a:r>
          </a:p>
          <a:p>
            <a:pPr>
              <a:lnSpc>
                <a:spcPts val="2088"/>
              </a:lnSpc>
              <a:spcBef>
                <a:spcPts val="0"/>
              </a:spcBef>
              <a:spcAft>
                <a:spcPts val="0"/>
              </a:spcAft>
              <a:defRPr sz="1800" b="0">
                <a:solidFill>
                  <a:srgbClr val="4B6074"/>
                </a:solidFill>
                <a:latin typeface="Arial"/>
              </a:defRPr>
            </a:pPr>
            <a:r>
              <a:t>как её воспроизвести.</a:t>
            </a:r>
          </a:p>
        </p:txBody>
      </p:sp>
      <p:sp>
        <p:nvSpPr>
          <p:cNvPr id="12" name="Rounded Rectangle 11"/>
          <p:cNvSpPr/>
          <p:nvPr/>
        </p:nvSpPr>
        <p:spPr>
          <a:xfrm>
            <a:off x="4334256" y="1920240"/>
            <a:ext cx="3520440" cy="3063240"/>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2157984"/>
            <a:ext cx="306324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&lt;/&gt;</a:t>
            </a:r>
          </a:p>
        </p:txBody>
      </p:sp>
      <p:sp>
        <p:nvSpPr>
          <p:cNvPr id="14" name="TextBox 13"/>
          <p:cNvSpPr txBox="1"/>
          <p:nvPr/>
        </p:nvSpPr>
        <p:spPr>
          <a:xfrm>
            <a:off x="4562856" y="2779776"/>
            <a:ext cx="306324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Создать</a:t>
            </a:r>
          </a:p>
        </p:txBody>
      </p:sp>
      <p:sp>
        <p:nvSpPr>
          <p:cNvPr id="15" name="TextBox 14"/>
          <p:cNvSpPr txBox="1"/>
          <p:nvPr/>
        </p:nvSpPr>
        <p:spPr>
          <a:xfrm>
            <a:off x="4562856" y="3502152"/>
            <a:ext cx="3063240" cy="1344167"/>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Сделать HTML-викторину</a:t>
            </a:r>
          </a:p>
          <a:p>
            <a:pPr>
              <a:lnSpc>
                <a:spcPts val="2088"/>
              </a:lnSpc>
              <a:spcBef>
                <a:spcPts val="0"/>
              </a:spcBef>
              <a:spcAft>
                <a:spcPts val="0"/>
              </a:spcAft>
              <a:defRPr sz="1800" b="0">
                <a:solidFill>
                  <a:srgbClr val="4B6074"/>
                </a:solidFill>
                <a:latin typeface="Arial"/>
              </a:defRPr>
            </a:pPr>
            <a:r>
              <a:t>или небольшой</a:t>
            </a:r>
          </a:p>
          <a:p>
            <a:pPr>
              <a:lnSpc>
                <a:spcPts val="2088"/>
              </a:lnSpc>
              <a:spcBef>
                <a:spcPts val="0"/>
              </a:spcBef>
              <a:spcAft>
                <a:spcPts val="0"/>
              </a:spcAft>
              <a:defRPr sz="1800" b="0">
                <a:solidFill>
                  <a:srgbClr val="4B6074"/>
                </a:solidFill>
                <a:latin typeface="Arial"/>
              </a:defRPr>
            </a:pPr>
            <a:r>
              <a:t>калькулятор.</a:t>
            </a:r>
          </a:p>
        </p:txBody>
      </p:sp>
      <p:sp>
        <p:nvSpPr>
          <p:cNvPr id="16" name="Rounded Rectangle 15"/>
          <p:cNvSpPr/>
          <p:nvPr/>
        </p:nvSpPr>
        <p:spPr>
          <a:xfrm>
            <a:off x="8119872" y="1920240"/>
            <a:ext cx="3520440" cy="3063240"/>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2" y="2157984"/>
            <a:ext cx="306324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CSV</a:t>
            </a:r>
          </a:p>
        </p:txBody>
      </p:sp>
      <p:sp>
        <p:nvSpPr>
          <p:cNvPr id="18" name="TextBox 17"/>
          <p:cNvSpPr txBox="1"/>
          <p:nvPr/>
        </p:nvSpPr>
        <p:spPr>
          <a:xfrm>
            <a:off x="8348472" y="2779776"/>
            <a:ext cx="306324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Исследовать</a:t>
            </a:r>
          </a:p>
        </p:txBody>
      </p:sp>
      <p:sp>
        <p:nvSpPr>
          <p:cNvPr id="19" name="TextBox 18"/>
          <p:cNvSpPr txBox="1"/>
          <p:nvPr/>
        </p:nvSpPr>
        <p:spPr>
          <a:xfrm>
            <a:off x="8348472" y="3502152"/>
            <a:ext cx="3063240" cy="1344167"/>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Обработать учебный CSV</a:t>
            </a:r>
          </a:p>
          <a:p>
            <a:pPr>
              <a:lnSpc>
                <a:spcPts val="2088"/>
              </a:lnSpc>
              <a:spcBef>
                <a:spcPts val="0"/>
              </a:spcBef>
              <a:spcAft>
                <a:spcPts val="0"/>
              </a:spcAft>
              <a:defRPr sz="1800" b="0">
                <a:solidFill>
                  <a:srgbClr val="4B6074"/>
                </a:solidFill>
                <a:latin typeface="Arial"/>
              </a:defRPr>
            </a:pPr>
            <a:r>
              <a:t>и построить график</a:t>
            </a:r>
          </a:p>
          <a:p>
            <a:pPr>
              <a:lnSpc>
                <a:spcPts val="2088"/>
              </a:lnSpc>
              <a:spcBef>
                <a:spcPts val="0"/>
              </a:spcBef>
              <a:spcAft>
                <a:spcPts val="0"/>
              </a:spcAft>
              <a:defRPr sz="1800" b="0">
                <a:solidFill>
                  <a:srgbClr val="4B6074"/>
                </a:solidFill>
                <a:latin typeface="Arial"/>
              </a:defRPr>
            </a:pPr>
            <a:r>
              <a:t>по заданным данным.</a:t>
            </a:r>
          </a:p>
        </p:txBody>
      </p:sp>
      <p:sp>
        <p:nvSpPr>
          <p:cNvPr id="20" name="TextBox 19"/>
          <p:cNvSpPr txBox="1"/>
          <p:nvPr/>
        </p:nvSpPr>
        <p:spPr>
          <a:xfrm>
            <a:off x="640080" y="5422392"/>
            <a:ext cx="10789920" cy="457200"/>
          </a:xfrm>
          <a:prstGeom prst="rect">
            <a:avLst/>
          </a:prstGeom>
          <a:noFill/>
        </p:spPr>
        <p:txBody>
          <a:bodyPr wrap="none" lIns="0" rIns="0" tIns="0" bIns="0" anchor="t">
            <a:spAutoFit/>
          </a:bodyPr>
          <a:lstStyle/>
          <a:p>
            <a:pPr>
              <a:lnSpc>
                <a:spcPts val="2436"/>
              </a:lnSpc>
              <a:spcBef>
                <a:spcPts val="0"/>
              </a:spcBef>
              <a:spcAft>
                <a:spcPts val="0"/>
              </a:spcAft>
              <a:defRPr sz="2100" b="1">
                <a:solidFill>
                  <a:srgbClr val="1D5D91"/>
                </a:solidFill>
                <a:latin typeface="Arial"/>
              </a:defRPr>
            </a:pPr>
            <a:r>
              <a:t>Ещё один полезный результат — понятная инструкция по запуску проекта.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none" lIns="0" rIns="0" tIns="0" bIns="0" anchor="t">
            <a:spAutoFit/>
          </a:bodyPr>
          <a:lstStyle/>
          <a:p>
            <a:pPr>
              <a:lnSpc>
                <a:spcPts val="1276"/>
              </a:lnSpc>
              <a:spcBef>
                <a:spcPts val="0"/>
              </a:spcBef>
              <a:spcAft>
                <a:spcPts val="0"/>
              </a:spcAft>
              <a:defRPr sz="1100" b="1">
                <a:solidFill>
                  <a:srgbClr val="007A78"/>
                </a:solidFill>
                <a:latin typeface="Arial"/>
              </a:defRPr>
            </a:pPr>
            <a:r>
              <a:t>ОТ ЗАПРОСА ДО ПРОВЕРКИ</a:t>
            </a:r>
          </a:p>
        </p:txBody>
      </p:sp>
      <p:sp>
        <p:nvSpPr>
          <p:cNvPr id="3" name="TextBox 2"/>
          <p:cNvSpPr txBox="1"/>
          <p:nvPr/>
        </p:nvSpPr>
        <p:spPr>
          <a:xfrm>
            <a:off x="502920" y="786384"/>
            <a:ext cx="11064240" cy="594360"/>
          </a:xfrm>
          <a:prstGeom prst="rect">
            <a:avLst/>
          </a:prstGeom>
          <a:noFill/>
        </p:spPr>
        <p:txBody>
          <a:bodyPr wrap="none" lIns="0" rIns="0" tIns="0" bIns="0" anchor="t">
            <a:spAutoFit/>
          </a:bodyPr>
          <a:lstStyle/>
          <a:p>
            <a:pPr>
              <a:lnSpc>
                <a:spcPts val="3596"/>
              </a:lnSpc>
              <a:spcBef>
                <a:spcPts val="0"/>
              </a:spcBef>
              <a:spcAft>
                <a:spcPts val="0"/>
              </a:spcAft>
              <a:defRPr sz="3100" b="1">
                <a:solidFill>
                  <a:srgbClr val="172B3A"/>
                </a:solidFill>
                <a:latin typeface="Arial"/>
              </a:defRPr>
            </a:pPr>
            <a:r>
              <a:t>Как строится работа</a:t>
            </a:r>
          </a:p>
        </p:txBody>
      </p:sp>
      <p:cxnSp>
        <p:nvCxnSpPr>
          <p:cNvPr id="4" name="Connector 3"/>
          <p:cNvCxnSpPr/>
          <p:nvPr/>
        </p:nvCxnSpPr>
        <p:spPr>
          <a:xfrm>
            <a:off x="502920" y="6382512"/>
            <a:ext cx="11183112" cy="0"/>
          </a:xfrm>
          <a:prstGeom prst="line">
            <a:avLst/>
          </a:prstGeom>
          <a:ln w="12700">
            <a:solidFill>
              <a:srgbClr val="D8E1E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382512"/>
            <a:ext cx="4473244" cy="0"/>
          </a:xfrm>
          <a:prstGeom prst="line">
            <a:avLst/>
          </a:prstGeom>
          <a:ln w="25400">
            <a:solidFill>
              <a:srgbClr val="007A7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9144000" cy="182880"/>
          </a:xfrm>
          <a:prstGeom prst="rect">
            <a:avLst/>
          </a:prstGeom>
          <a:noFill/>
        </p:spPr>
        <p:txBody>
          <a:bodyPr wrap="none" lIns="0" rIns="0" tIns="0" bIns="0" anchor="t">
            <a:spAutoFit/>
          </a:bodyPr>
          <a:lstStyle/>
          <a:p>
            <a:pPr>
              <a:lnSpc>
                <a:spcPts val="1044"/>
              </a:lnSpc>
              <a:spcBef>
                <a:spcPts val="0"/>
              </a:spcBef>
              <a:spcAft>
                <a:spcPts val="0"/>
              </a:spcAft>
              <a:defRPr sz="900" b="0">
                <a:solidFill>
                  <a:srgbClr val="4B6074"/>
                </a:solidFill>
                <a:latin typeface="Arial"/>
              </a:defRPr>
            </a:pPr>
            <a:r>
              <a:t>ВОЗМОЖНОСТИ CODEX • ИНФОРМАТИКА • 10 КЛАСС</a:t>
            </a:r>
          </a:p>
        </p:txBody>
      </p:sp>
      <p:sp>
        <p:nvSpPr>
          <p:cNvPr id="7" name="TextBox 6"/>
          <p:cNvSpPr txBox="1"/>
          <p:nvPr/>
        </p:nvSpPr>
        <p:spPr>
          <a:xfrm>
            <a:off x="11119104" y="6492240"/>
            <a:ext cx="594360" cy="228600"/>
          </a:xfrm>
          <a:prstGeom prst="rect">
            <a:avLst/>
          </a:prstGeom>
          <a:noFill/>
        </p:spPr>
        <p:txBody>
          <a:bodyPr wrap="none" lIns="0" rIns="0" tIns="0" bIns="0" anchor="t">
            <a:spAutoFit/>
          </a:bodyPr>
          <a:lstStyle/>
          <a:p>
            <a:pPr>
              <a:lnSpc>
                <a:spcPts val="1160"/>
              </a:lnSpc>
              <a:spcBef>
                <a:spcPts val="0"/>
              </a:spcBef>
              <a:spcAft>
                <a:spcPts val="0"/>
              </a:spcAft>
              <a:defRPr sz="1000" b="1">
                <a:solidFill>
                  <a:srgbClr val="4B6074"/>
                </a:solidFill>
                <a:latin typeface="Arial"/>
              </a:defRPr>
            </a:pPr>
            <a:r>
              <a:t>04 / 10</a:t>
            </a:r>
          </a:p>
        </p:txBody>
      </p:sp>
      <p:sp>
        <p:nvSpPr>
          <p:cNvPr id="8" name="Rounded Rectangle 7"/>
          <p:cNvSpPr/>
          <p:nvPr/>
        </p:nvSpPr>
        <p:spPr>
          <a:xfrm>
            <a:off x="548640" y="2331720"/>
            <a:ext cx="2560320" cy="2560320"/>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569463"/>
            <a:ext cx="210312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01</a:t>
            </a:r>
          </a:p>
        </p:txBody>
      </p:sp>
      <p:sp>
        <p:nvSpPr>
          <p:cNvPr id="10" name="TextBox 9"/>
          <p:cNvSpPr txBox="1"/>
          <p:nvPr/>
        </p:nvSpPr>
        <p:spPr>
          <a:xfrm>
            <a:off x="777240" y="3191256"/>
            <a:ext cx="210312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Задача</a:t>
            </a:r>
          </a:p>
        </p:txBody>
      </p:sp>
      <p:sp>
        <p:nvSpPr>
          <p:cNvPr id="11" name="TextBox 10"/>
          <p:cNvSpPr txBox="1"/>
          <p:nvPr/>
        </p:nvSpPr>
        <p:spPr>
          <a:xfrm>
            <a:off x="777240" y="3913631"/>
            <a:ext cx="2103120" cy="841247"/>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Что должно</a:t>
            </a:r>
          </a:p>
          <a:p>
            <a:pPr>
              <a:lnSpc>
                <a:spcPts val="2088"/>
              </a:lnSpc>
              <a:spcBef>
                <a:spcPts val="0"/>
              </a:spcBef>
              <a:spcAft>
                <a:spcPts val="0"/>
              </a:spcAft>
              <a:defRPr sz="1800" b="0">
                <a:solidFill>
                  <a:srgbClr val="4B6074"/>
                </a:solidFill>
                <a:latin typeface="Arial"/>
              </a:defRPr>
            </a:pPr>
            <a:r>
              <a:t>получиться?</a:t>
            </a:r>
          </a:p>
        </p:txBody>
      </p:sp>
      <p:sp>
        <p:nvSpPr>
          <p:cNvPr id="12" name="TextBox 11"/>
          <p:cNvSpPr txBox="1"/>
          <p:nvPr/>
        </p:nvSpPr>
        <p:spPr>
          <a:xfrm>
            <a:off x="3145536" y="3355848"/>
            <a:ext cx="237744" cy="45720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a:t>
            </a:r>
          </a:p>
        </p:txBody>
      </p:sp>
      <p:sp>
        <p:nvSpPr>
          <p:cNvPr id="13" name="Rounded Rectangle 12"/>
          <p:cNvSpPr/>
          <p:nvPr/>
        </p:nvSpPr>
        <p:spPr>
          <a:xfrm>
            <a:off x="3392424" y="2331720"/>
            <a:ext cx="2560320" cy="2560320"/>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1024" y="2569463"/>
            <a:ext cx="210312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02</a:t>
            </a:r>
          </a:p>
        </p:txBody>
      </p:sp>
      <p:sp>
        <p:nvSpPr>
          <p:cNvPr id="15" name="TextBox 14"/>
          <p:cNvSpPr txBox="1"/>
          <p:nvPr/>
        </p:nvSpPr>
        <p:spPr>
          <a:xfrm>
            <a:off x="3621024" y="3191256"/>
            <a:ext cx="210312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План</a:t>
            </a:r>
          </a:p>
        </p:txBody>
      </p:sp>
      <p:sp>
        <p:nvSpPr>
          <p:cNvPr id="16" name="TextBox 15"/>
          <p:cNvSpPr txBox="1"/>
          <p:nvPr/>
        </p:nvSpPr>
        <p:spPr>
          <a:xfrm>
            <a:off x="3621024" y="3913631"/>
            <a:ext cx="2103120" cy="841247"/>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Какие шаги</a:t>
            </a:r>
          </a:p>
          <a:p>
            <a:pPr>
              <a:lnSpc>
                <a:spcPts val="2088"/>
              </a:lnSpc>
              <a:spcBef>
                <a:spcPts val="0"/>
              </a:spcBef>
              <a:spcAft>
                <a:spcPts val="0"/>
              </a:spcAft>
              <a:defRPr sz="1800" b="0">
                <a:solidFill>
                  <a:srgbClr val="4B6074"/>
                </a:solidFill>
                <a:latin typeface="Arial"/>
              </a:defRPr>
            </a:pPr>
            <a:r>
              <a:t>потребуются?</a:t>
            </a:r>
          </a:p>
        </p:txBody>
      </p:sp>
      <p:sp>
        <p:nvSpPr>
          <p:cNvPr id="17" name="TextBox 16"/>
          <p:cNvSpPr txBox="1"/>
          <p:nvPr/>
        </p:nvSpPr>
        <p:spPr>
          <a:xfrm>
            <a:off x="5989320" y="3355848"/>
            <a:ext cx="237744" cy="45720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a:t>
            </a:r>
          </a:p>
        </p:txBody>
      </p:sp>
      <p:sp>
        <p:nvSpPr>
          <p:cNvPr id="18" name="Rounded Rectangle 17"/>
          <p:cNvSpPr/>
          <p:nvPr/>
        </p:nvSpPr>
        <p:spPr>
          <a:xfrm>
            <a:off x="6236207" y="2331720"/>
            <a:ext cx="2560320" cy="2560320"/>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7" y="2569463"/>
            <a:ext cx="210312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03</a:t>
            </a:r>
          </a:p>
        </p:txBody>
      </p:sp>
      <p:sp>
        <p:nvSpPr>
          <p:cNvPr id="20" name="TextBox 19"/>
          <p:cNvSpPr txBox="1"/>
          <p:nvPr/>
        </p:nvSpPr>
        <p:spPr>
          <a:xfrm>
            <a:off x="6464807" y="3191256"/>
            <a:ext cx="210312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Файлы</a:t>
            </a:r>
          </a:p>
        </p:txBody>
      </p:sp>
      <p:sp>
        <p:nvSpPr>
          <p:cNvPr id="21" name="TextBox 20"/>
          <p:cNvSpPr txBox="1"/>
          <p:nvPr/>
        </p:nvSpPr>
        <p:spPr>
          <a:xfrm>
            <a:off x="6464807" y="3913631"/>
            <a:ext cx="2103120" cy="841247"/>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Что создать</a:t>
            </a:r>
          </a:p>
          <a:p>
            <a:pPr>
              <a:lnSpc>
                <a:spcPts val="2088"/>
              </a:lnSpc>
              <a:spcBef>
                <a:spcPts val="0"/>
              </a:spcBef>
              <a:spcAft>
                <a:spcPts val="0"/>
              </a:spcAft>
              <a:defRPr sz="1800" b="0">
                <a:solidFill>
                  <a:srgbClr val="4B6074"/>
                </a:solidFill>
                <a:latin typeface="Arial"/>
              </a:defRPr>
            </a:pPr>
            <a:r>
              <a:t>или изменить?</a:t>
            </a:r>
          </a:p>
        </p:txBody>
      </p:sp>
      <p:sp>
        <p:nvSpPr>
          <p:cNvPr id="22" name="TextBox 21"/>
          <p:cNvSpPr txBox="1"/>
          <p:nvPr/>
        </p:nvSpPr>
        <p:spPr>
          <a:xfrm>
            <a:off x="8833104" y="3355848"/>
            <a:ext cx="237744" cy="45720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a:t>
            </a:r>
          </a:p>
        </p:txBody>
      </p:sp>
      <p:sp>
        <p:nvSpPr>
          <p:cNvPr id="23" name="Rounded Rectangle 22"/>
          <p:cNvSpPr/>
          <p:nvPr/>
        </p:nvSpPr>
        <p:spPr>
          <a:xfrm>
            <a:off x="9079992" y="2331720"/>
            <a:ext cx="2560320" cy="2560320"/>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08592" y="2569463"/>
            <a:ext cx="210312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04</a:t>
            </a:r>
          </a:p>
        </p:txBody>
      </p:sp>
      <p:sp>
        <p:nvSpPr>
          <p:cNvPr id="25" name="TextBox 24"/>
          <p:cNvSpPr txBox="1"/>
          <p:nvPr/>
        </p:nvSpPr>
        <p:spPr>
          <a:xfrm>
            <a:off x="9308592" y="3191256"/>
            <a:ext cx="210312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Проверка</a:t>
            </a:r>
          </a:p>
        </p:txBody>
      </p:sp>
      <p:sp>
        <p:nvSpPr>
          <p:cNvPr id="26" name="TextBox 25"/>
          <p:cNvSpPr txBox="1"/>
          <p:nvPr/>
        </p:nvSpPr>
        <p:spPr>
          <a:xfrm>
            <a:off x="9308592" y="3913631"/>
            <a:ext cx="2103120" cy="841247"/>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Как убедиться,</a:t>
            </a:r>
          </a:p>
          <a:p>
            <a:pPr>
              <a:lnSpc>
                <a:spcPts val="2088"/>
              </a:lnSpc>
              <a:spcBef>
                <a:spcPts val="0"/>
              </a:spcBef>
              <a:spcAft>
                <a:spcPts val="0"/>
              </a:spcAft>
              <a:defRPr sz="1800" b="0">
                <a:solidFill>
                  <a:srgbClr val="4B6074"/>
                </a:solidFill>
                <a:latin typeface="Arial"/>
              </a:defRPr>
            </a:pPr>
            <a:r>
              <a:t>что всё работает?</a:t>
            </a:r>
          </a:p>
        </p:txBody>
      </p:sp>
      <p:sp>
        <p:nvSpPr>
          <p:cNvPr id="27" name="Rounded Rectangle 26"/>
          <p:cNvSpPr/>
          <p:nvPr/>
        </p:nvSpPr>
        <p:spPr>
          <a:xfrm>
            <a:off x="548640" y="5276088"/>
            <a:ext cx="11091672" cy="594360"/>
          </a:xfrm>
          <a:prstGeom prst="roundRect">
            <a:avLst>
              <a:gd name="adj" fmla="val 12000"/>
            </a:avLst>
          </a:prstGeom>
          <a:solidFill>
            <a:srgbClr val="14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431536"/>
            <a:ext cx="10561320" cy="365760"/>
          </a:xfrm>
          <a:prstGeom prst="rect">
            <a:avLst/>
          </a:prstGeom>
          <a:noFill/>
        </p:spPr>
        <p:txBody>
          <a:bodyPr wrap="none" lIns="0" rIns="0" tIns="0" bIns="0" anchor="t">
            <a:spAutoFit/>
          </a:bodyPr>
          <a:lstStyle/>
          <a:p>
            <a:pPr>
              <a:lnSpc>
                <a:spcPts val="2436"/>
              </a:lnSpc>
              <a:spcBef>
                <a:spcPts val="0"/>
              </a:spcBef>
              <a:spcAft>
                <a:spcPts val="0"/>
              </a:spcAft>
              <a:defRPr sz="2100" b="1">
                <a:solidFill>
                  <a:srgbClr val="FFFFFF"/>
                </a:solidFill>
                <a:latin typeface="Arial"/>
              </a:defRPr>
            </a:pPr>
            <a:r>
              <a:t>Твоя роль: задать цель, понять изменения и оценить результат.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none" lIns="0" rIns="0" tIns="0" bIns="0" anchor="t">
            <a:spAutoFit/>
          </a:bodyPr>
          <a:lstStyle/>
          <a:p>
            <a:pPr>
              <a:lnSpc>
                <a:spcPts val="1276"/>
              </a:lnSpc>
              <a:spcBef>
                <a:spcPts val="0"/>
              </a:spcBef>
              <a:spcAft>
                <a:spcPts val="0"/>
              </a:spcAft>
              <a:defRPr sz="1100" b="1">
                <a:solidFill>
                  <a:srgbClr val="007A78"/>
                </a:solidFill>
                <a:latin typeface="Arial"/>
              </a:defRPr>
            </a:pPr>
            <a:r>
              <a:t>ОДИН МИНИ-ПРОЕКТ — НЕСКОЛЬКО ПРЕДМЕТОВ</a:t>
            </a:r>
          </a:p>
        </p:txBody>
      </p:sp>
      <p:sp>
        <p:nvSpPr>
          <p:cNvPr id="3" name="TextBox 2"/>
          <p:cNvSpPr txBox="1"/>
          <p:nvPr/>
        </p:nvSpPr>
        <p:spPr>
          <a:xfrm>
            <a:off x="502920" y="786384"/>
            <a:ext cx="11064240" cy="594360"/>
          </a:xfrm>
          <a:prstGeom prst="rect">
            <a:avLst/>
          </a:prstGeom>
          <a:noFill/>
        </p:spPr>
        <p:txBody>
          <a:bodyPr wrap="none" lIns="0" rIns="0" tIns="0" bIns="0" anchor="t">
            <a:spAutoFit/>
          </a:bodyPr>
          <a:lstStyle/>
          <a:p>
            <a:pPr>
              <a:lnSpc>
                <a:spcPts val="3596"/>
              </a:lnSpc>
              <a:spcBef>
                <a:spcPts val="0"/>
              </a:spcBef>
              <a:spcAft>
                <a:spcPts val="0"/>
              </a:spcAft>
              <a:defRPr sz="3100" b="1">
                <a:solidFill>
                  <a:srgbClr val="172B3A"/>
                </a:solidFill>
                <a:latin typeface="Arial"/>
              </a:defRPr>
            </a:pPr>
            <a:r>
              <a:t>Пример: калькулятор движения</a:t>
            </a:r>
          </a:p>
        </p:txBody>
      </p:sp>
      <p:cxnSp>
        <p:nvCxnSpPr>
          <p:cNvPr id="4" name="Connector 3"/>
          <p:cNvCxnSpPr/>
          <p:nvPr/>
        </p:nvCxnSpPr>
        <p:spPr>
          <a:xfrm>
            <a:off x="502920" y="6382512"/>
            <a:ext cx="11183112" cy="0"/>
          </a:xfrm>
          <a:prstGeom prst="line">
            <a:avLst/>
          </a:prstGeom>
          <a:ln w="12700">
            <a:solidFill>
              <a:srgbClr val="D8E1E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382512"/>
            <a:ext cx="5591556" cy="0"/>
          </a:xfrm>
          <a:prstGeom prst="line">
            <a:avLst/>
          </a:prstGeom>
          <a:ln w="25400">
            <a:solidFill>
              <a:srgbClr val="007A7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9144000" cy="182880"/>
          </a:xfrm>
          <a:prstGeom prst="rect">
            <a:avLst/>
          </a:prstGeom>
          <a:noFill/>
        </p:spPr>
        <p:txBody>
          <a:bodyPr wrap="none" lIns="0" rIns="0" tIns="0" bIns="0" anchor="t">
            <a:spAutoFit/>
          </a:bodyPr>
          <a:lstStyle/>
          <a:p>
            <a:pPr>
              <a:lnSpc>
                <a:spcPts val="1044"/>
              </a:lnSpc>
              <a:spcBef>
                <a:spcPts val="0"/>
              </a:spcBef>
              <a:spcAft>
                <a:spcPts val="0"/>
              </a:spcAft>
              <a:defRPr sz="900" b="0">
                <a:solidFill>
                  <a:srgbClr val="4B6074"/>
                </a:solidFill>
                <a:latin typeface="Arial"/>
              </a:defRPr>
            </a:pPr>
            <a:r>
              <a:t>ВОЗМОЖНОСТИ CODEX • ИНФОРМАТИКА • 10 КЛАСС</a:t>
            </a:r>
          </a:p>
        </p:txBody>
      </p:sp>
      <p:sp>
        <p:nvSpPr>
          <p:cNvPr id="7" name="TextBox 6"/>
          <p:cNvSpPr txBox="1"/>
          <p:nvPr/>
        </p:nvSpPr>
        <p:spPr>
          <a:xfrm>
            <a:off x="11119104" y="6492240"/>
            <a:ext cx="594360" cy="228600"/>
          </a:xfrm>
          <a:prstGeom prst="rect">
            <a:avLst/>
          </a:prstGeom>
          <a:noFill/>
        </p:spPr>
        <p:txBody>
          <a:bodyPr wrap="none" lIns="0" rIns="0" tIns="0" bIns="0" anchor="t">
            <a:spAutoFit/>
          </a:bodyPr>
          <a:lstStyle/>
          <a:p>
            <a:pPr>
              <a:lnSpc>
                <a:spcPts val="1160"/>
              </a:lnSpc>
              <a:spcBef>
                <a:spcPts val="0"/>
              </a:spcBef>
              <a:spcAft>
                <a:spcPts val="0"/>
              </a:spcAft>
              <a:defRPr sz="1000" b="1">
                <a:solidFill>
                  <a:srgbClr val="4B6074"/>
                </a:solidFill>
                <a:latin typeface="Arial"/>
              </a:defRPr>
            </a:pPr>
            <a:r>
              <a:t>05 / 10</a:t>
            </a:r>
          </a:p>
        </p:txBody>
      </p:sp>
      <p:sp>
        <p:nvSpPr>
          <p:cNvPr id="8" name="Rounded Rectangle 7"/>
          <p:cNvSpPr/>
          <p:nvPr/>
        </p:nvSpPr>
        <p:spPr>
          <a:xfrm>
            <a:off x="548640" y="1947672"/>
            <a:ext cx="5577840" cy="3886200"/>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47672"/>
            <a:ext cx="5577840" cy="475488"/>
          </a:xfrm>
          <a:prstGeom prst="rect">
            <a:avLst/>
          </a:prstGeom>
          <a:solidFill>
            <a:srgbClr val="14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57400"/>
            <a:ext cx="5120640" cy="228600"/>
          </a:xfrm>
          <a:prstGeom prst="rect">
            <a:avLst/>
          </a:prstGeom>
          <a:noFill/>
        </p:spPr>
        <p:txBody>
          <a:bodyPr wrap="none" lIns="0" rIns="0" tIns="0" bIns="0" anchor="t">
            <a:spAutoFit/>
          </a:bodyPr>
          <a:lstStyle/>
          <a:p>
            <a:pPr>
              <a:lnSpc>
                <a:spcPts val="1391"/>
              </a:lnSpc>
              <a:spcBef>
                <a:spcPts val="0"/>
              </a:spcBef>
              <a:spcAft>
                <a:spcPts val="0"/>
              </a:spcAft>
              <a:defRPr sz="1200" b="1">
                <a:solidFill>
                  <a:srgbClr val="FFFFFF"/>
                </a:solidFill>
                <a:latin typeface="Arial"/>
              </a:defRPr>
            </a:pPr>
            <a:r>
              <a:t>МАКЕТ УЧЕБНОЙ СТРАНИЦЫ</a:t>
            </a:r>
          </a:p>
        </p:txBody>
      </p:sp>
      <p:sp>
        <p:nvSpPr>
          <p:cNvPr id="11" name="TextBox 10"/>
          <p:cNvSpPr txBox="1"/>
          <p:nvPr/>
        </p:nvSpPr>
        <p:spPr>
          <a:xfrm>
            <a:off x="859536" y="2734056"/>
            <a:ext cx="4937760" cy="45720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172B3A"/>
                </a:solidFill>
                <a:latin typeface="Arial"/>
              </a:defRPr>
            </a:pPr>
            <a:r>
              <a:t>Прямолинейное движение</a:t>
            </a:r>
          </a:p>
        </p:txBody>
      </p:sp>
      <p:sp>
        <p:nvSpPr>
          <p:cNvPr id="12" name="TextBox 11"/>
          <p:cNvSpPr txBox="1"/>
          <p:nvPr/>
        </p:nvSpPr>
        <p:spPr>
          <a:xfrm>
            <a:off x="886968" y="3447288"/>
            <a:ext cx="4663440" cy="868680"/>
          </a:xfrm>
          <a:prstGeom prst="rect">
            <a:avLst/>
          </a:prstGeom>
          <a:noFill/>
        </p:spPr>
        <p:txBody>
          <a:bodyPr wrap="none" lIns="0" rIns="0" tIns="0" bIns="0" anchor="t">
            <a:spAutoFit/>
          </a:bodyPr>
          <a:lstStyle/>
          <a:p>
            <a:pPr>
              <a:lnSpc>
                <a:spcPts val="2552"/>
              </a:lnSpc>
              <a:spcBef>
                <a:spcPts val="0"/>
              </a:spcBef>
              <a:spcAft>
                <a:spcPts val="0"/>
              </a:spcAft>
              <a:defRPr sz="2200" b="0">
                <a:solidFill>
                  <a:srgbClr val="4B6074"/>
                </a:solidFill>
                <a:latin typeface="Arial"/>
              </a:defRPr>
            </a:pPr>
            <a:r>
              <a:t>v₀ = 2 м/с a = 1 м/с²</a:t>
            </a:r>
          </a:p>
          <a:p>
            <a:pPr>
              <a:lnSpc>
                <a:spcPts val="2552"/>
              </a:lnSpc>
              <a:spcBef>
                <a:spcPts val="0"/>
              </a:spcBef>
              <a:spcAft>
                <a:spcPts val="0"/>
              </a:spcAft>
              <a:defRPr sz="2200" b="0">
                <a:solidFill>
                  <a:srgbClr val="4B6074"/>
                </a:solidFill>
                <a:latin typeface="Arial"/>
              </a:defRPr>
            </a:pPr>
            <a:r>
              <a:t>t = 2 с</a:t>
            </a:r>
          </a:p>
        </p:txBody>
      </p:sp>
      <p:sp>
        <p:nvSpPr>
          <p:cNvPr id="13" name="Rounded Rectangle 12"/>
          <p:cNvSpPr/>
          <p:nvPr/>
        </p:nvSpPr>
        <p:spPr>
          <a:xfrm>
            <a:off x="877824" y="4690872"/>
            <a:ext cx="4864608" cy="713232"/>
          </a:xfrm>
          <a:prstGeom prst="roundRect">
            <a:avLst>
              <a:gd name="adj" fmla="val 12000"/>
            </a:avLst>
          </a:prstGeom>
          <a:solidFill>
            <a:srgbClr val="E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8136" y="4837176"/>
            <a:ext cx="4480560" cy="43891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007A78"/>
                </a:solidFill>
                <a:latin typeface="Arial"/>
              </a:defRPr>
            </a:pPr>
            <a:r>
              <a:t>s = 2 × 2 + 1 × 2² / 2 = 6 м</a:t>
            </a:r>
          </a:p>
        </p:txBody>
      </p:sp>
      <p:sp>
        <p:nvSpPr>
          <p:cNvPr id="15" name="TextBox 14"/>
          <p:cNvSpPr txBox="1"/>
          <p:nvPr/>
        </p:nvSpPr>
        <p:spPr>
          <a:xfrm>
            <a:off x="886968" y="5522976"/>
            <a:ext cx="4663440" cy="237744"/>
          </a:xfrm>
          <a:prstGeom prst="rect">
            <a:avLst/>
          </a:prstGeom>
          <a:noFill/>
        </p:spPr>
        <p:txBody>
          <a:bodyPr wrap="none" lIns="0" rIns="0" tIns="0" bIns="0" anchor="t">
            <a:spAutoFit/>
          </a:bodyPr>
          <a:lstStyle/>
          <a:p>
            <a:pPr>
              <a:lnSpc>
                <a:spcPts val="1623"/>
              </a:lnSpc>
              <a:spcBef>
                <a:spcPts val="0"/>
              </a:spcBef>
              <a:spcAft>
                <a:spcPts val="0"/>
              </a:spcAft>
              <a:defRPr sz="1400" b="0">
                <a:solidFill>
                  <a:srgbClr val="4B6074"/>
                </a:solidFill>
                <a:latin typeface="Arial"/>
              </a:defRPr>
            </a:pPr>
            <a:r>
              <a:t>s — перемещение вдоль выбранной оси</a:t>
            </a:r>
          </a:p>
        </p:txBody>
      </p:sp>
      <p:sp>
        <p:nvSpPr>
          <p:cNvPr id="16" name="Oval 15"/>
          <p:cNvSpPr/>
          <p:nvPr/>
        </p:nvSpPr>
        <p:spPr>
          <a:xfrm>
            <a:off x="6597396" y="2199132"/>
            <a:ext cx="118872" cy="118872"/>
          </a:xfrm>
          <a:prstGeom prst="ellipse">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76288" y="2084831"/>
            <a:ext cx="4626864" cy="384048"/>
          </a:xfrm>
          <a:prstGeom prst="rect">
            <a:avLst/>
          </a:prstGeom>
          <a:noFill/>
        </p:spPr>
        <p:txBody>
          <a:bodyPr wrap="none" lIns="0" rIns="0" tIns="0" bIns="0" anchor="t">
            <a:spAutoFit/>
          </a:bodyPr>
          <a:lstStyle/>
          <a:p>
            <a:pPr>
              <a:lnSpc>
                <a:spcPts val="2668"/>
              </a:lnSpc>
              <a:spcBef>
                <a:spcPts val="0"/>
              </a:spcBef>
              <a:spcAft>
                <a:spcPts val="0"/>
              </a:spcAft>
              <a:defRPr sz="2300" b="1">
                <a:solidFill>
                  <a:srgbClr val="172B3A"/>
                </a:solidFill>
                <a:latin typeface="Arial"/>
              </a:defRPr>
            </a:pPr>
            <a:r>
              <a:t>Физика</a:t>
            </a:r>
          </a:p>
        </p:txBody>
      </p:sp>
      <p:sp>
        <p:nvSpPr>
          <p:cNvPr id="18" name="TextBox 17"/>
          <p:cNvSpPr txBox="1"/>
          <p:nvPr/>
        </p:nvSpPr>
        <p:spPr>
          <a:xfrm>
            <a:off x="6876288" y="2542032"/>
            <a:ext cx="4626864" cy="658368"/>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4B6074"/>
                </a:solidFill>
                <a:latin typeface="Arial"/>
              </a:defRPr>
            </a:pPr>
            <a:r>
              <a:t>Формула, величины и единицы.</a:t>
            </a:r>
          </a:p>
        </p:txBody>
      </p:sp>
      <p:sp>
        <p:nvSpPr>
          <p:cNvPr id="19" name="Oval 18"/>
          <p:cNvSpPr/>
          <p:nvPr/>
        </p:nvSpPr>
        <p:spPr>
          <a:xfrm>
            <a:off x="6597396" y="3451860"/>
            <a:ext cx="118872" cy="118872"/>
          </a:xfrm>
          <a:prstGeom prst="ellipse">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76288" y="3337560"/>
            <a:ext cx="4626864" cy="384048"/>
          </a:xfrm>
          <a:prstGeom prst="rect">
            <a:avLst/>
          </a:prstGeom>
          <a:noFill/>
        </p:spPr>
        <p:txBody>
          <a:bodyPr wrap="none" lIns="0" rIns="0" tIns="0" bIns="0" anchor="t">
            <a:spAutoFit/>
          </a:bodyPr>
          <a:lstStyle/>
          <a:p>
            <a:pPr>
              <a:lnSpc>
                <a:spcPts val="2668"/>
              </a:lnSpc>
              <a:spcBef>
                <a:spcPts val="0"/>
              </a:spcBef>
              <a:spcAft>
                <a:spcPts val="0"/>
              </a:spcAft>
              <a:defRPr sz="2300" b="1">
                <a:solidFill>
                  <a:srgbClr val="172B3A"/>
                </a:solidFill>
                <a:latin typeface="Arial"/>
              </a:defRPr>
            </a:pPr>
            <a:r>
              <a:t>Математика</a:t>
            </a:r>
          </a:p>
        </p:txBody>
      </p:sp>
      <p:sp>
        <p:nvSpPr>
          <p:cNvPr id="21" name="TextBox 20"/>
          <p:cNvSpPr txBox="1"/>
          <p:nvPr/>
        </p:nvSpPr>
        <p:spPr>
          <a:xfrm>
            <a:off x="6876288" y="3794760"/>
            <a:ext cx="4626864" cy="658368"/>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4B6074"/>
                </a:solidFill>
                <a:latin typeface="Arial"/>
              </a:defRPr>
            </a:pPr>
            <a:r>
              <a:t>Таблица значений и график.</a:t>
            </a:r>
          </a:p>
        </p:txBody>
      </p:sp>
      <p:sp>
        <p:nvSpPr>
          <p:cNvPr id="22" name="Oval 21"/>
          <p:cNvSpPr/>
          <p:nvPr/>
        </p:nvSpPr>
        <p:spPr>
          <a:xfrm>
            <a:off x="6597396" y="4704588"/>
            <a:ext cx="118872" cy="118872"/>
          </a:xfrm>
          <a:prstGeom prst="ellipse">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76288" y="4590288"/>
            <a:ext cx="4626864" cy="384048"/>
          </a:xfrm>
          <a:prstGeom prst="rect">
            <a:avLst/>
          </a:prstGeom>
          <a:noFill/>
        </p:spPr>
        <p:txBody>
          <a:bodyPr wrap="none" lIns="0" rIns="0" tIns="0" bIns="0" anchor="t">
            <a:spAutoFit/>
          </a:bodyPr>
          <a:lstStyle/>
          <a:p>
            <a:pPr>
              <a:lnSpc>
                <a:spcPts val="2668"/>
              </a:lnSpc>
              <a:spcBef>
                <a:spcPts val="0"/>
              </a:spcBef>
              <a:spcAft>
                <a:spcPts val="0"/>
              </a:spcAft>
              <a:defRPr sz="2300" b="1">
                <a:solidFill>
                  <a:srgbClr val="172B3A"/>
                </a:solidFill>
                <a:latin typeface="Arial"/>
              </a:defRPr>
            </a:pPr>
            <a:r>
              <a:t>Информатика</a:t>
            </a:r>
          </a:p>
        </p:txBody>
      </p:sp>
      <p:sp>
        <p:nvSpPr>
          <p:cNvPr id="24" name="TextBox 23"/>
          <p:cNvSpPr txBox="1"/>
          <p:nvPr/>
        </p:nvSpPr>
        <p:spPr>
          <a:xfrm>
            <a:off x="6876288" y="5047488"/>
            <a:ext cx="4626864" cy="658368"/>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4B6074"/>
                </a:solidFill>
                <a:latin typeface="Arial"/>
              </a:defRPr>
            </a:pPr>
            <a:r>
              <a:t>Ввод данных, расчёт и проверка.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none" lIns="0" rIns="0" tIns="0" bIns="0" anchor="t">
            <a:spAutoFit/>
          </a:bodyPr>
          <a:lstStyle/>
          <a:p>
            <a:pPr>
              <a:lnSpc>
                <a:spcPts val="1276"/>
              </a:lnSpc>
              <a:spcBef>
                <a:spcPts val="0"/>
              </a:spcBef>
              <a:spcAft>
                <a:spcPts val="0"/>
              </a:spcAft>
              <a:defRPr sz="1100" b="1">
                <a:solidFill>
                  <a:srgbClr val="007A78"/>
                </a:solidFill>
                <a:latin typeface="Arial"/>
              </a:defRPr>
            </a:pPr>
            <a:r>
              <a:t>ЦЕЛЬ + УСЛОВИЯ + ПРИМЕР ПРОВЕРКИ</a:t>
            </a:r>
          </a:p>
        </p:txBody>
      </p:sp>
      <p:sp>
        <p:nvSpPr>
          <p:cNvPr id="3" name="TextBox 2"/>
          <p:cNvSpPr txBox="1"/>
          <p:nvPr/>
        </p:nvSpPr>
        <p:spPr>
          <a:xfrm>
            <a:off x="502920" y="786384"/>
            <a:ext cx="11064240" cy="594360"/>
          </a:xfrm>
          <a:prstGeom prst="rect">
            <a:avLst/>
          </a:prstGeom>
          <a:noFill/>
        </p:spPr>
        <p:txBody>
          <a:bodyPr wrap="none" lIns="0" rIns="0" tIns="0" bIns="0" anchor="t">
            <a:spAutoFit/>
          </a:bodyPr>
          <a:lstStyle/>
          <a:p>
            <a:pPr>
              <a:lnSpc>
                <a:spcPts val="3596"/>
              </a:lnSpc>
              <a:spcBef>
                <a:spcPts val="0"/>
              </a:spcBef>
              <a:spcAft>
                <a:spcPts val="0"/>
              </a:spcAft>
              <a:defRPr sz="3100" b="1">
                <a:solidFill>
                  <a:srgbClr val="172B3A"/>
                </a:solidFill>
                <a:latin typeface="Arial"/>
              </a:defRPr>
            </a:pPr>
            <a:r>
              <a:t>Как написать полезный запрос</a:t>
            </a:r>
          </a:p>
        </p:txBody>
      </p:sp>
      <p:cxnSp>
        <p:nvCxnSpPr>
          <p:cNvPr id="4" name="Connector 3"/>
          <p:cNvCxnSpPr/>
          <p:nvPr/>
        </p:nvCxnSpPr>
        <p:spPr>
          <a:xfrm>
            <a:off x="502920" y="6382512"/>
            <a:ext cx="11183112" cy="0"/>
          </a:xfrm>
          <a:prstGeom prst="line">
            <a:avLst/>
          </a:prstGeom>
          <a:ln w="12700">
            <a:solidFill>
              <a:srgbClr val="D8E1E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382512"/>
            <a:ext cx="6709867" cy="0"/>
          </a:xfrm>
          <a:prstGeom prst="line">
            <a:avLst/>
          </a:prstGeom>
          <a:ln w="25400">
            <a:solidFill>
              <a:srgbClr val="007A7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9144000" cy="182880"/>
          </a:xfrm>
          <a:prstGeom prst="rect">
            <a:avLst/>
          </a:prstGeom>
          <a:noFill/>
        </p:spPr>
        <p:txBody>
          <a:bodyPr wrap="none" lIns="0" rIns="0" tIns="0" bIns="0" anchor="t">
            <a:spAutoFit/>
          </a:bodyPr>
          <a:lstStyle/>
          <a:p>
            <a:pPr>
              <a:lnSpc>
                <a:spcPts val="1044"/>
              </a:lnSpc>
              <a:spcBef>
                <a:spcPts val="0"/>
              </a:spcBef>
              <a:spcAft>
                <a:spcPts val="0"/>
              </a:spcAft>
              <a:defRPr sz="900" b="0">
                <a:solidFill>
                  <a:srgbClr val="4B6074"/>
                </a:solidFill>
                <a:latin typeface="Arial"/>
              </a:defRPr>
            </a:pPr>
            <a:r>
              <a:t>ВОЗМОЖНОСТИ CODEX • ИНФОРМАТИКА • 10 КЛАСС</a:t>
            </a:r>
          </a:p>
        </p:txBody>
      </p:sp>
      <p:sp>
        <p:nvSpPr>
          <p:cNvPr id="7" name="TextBox 6"/>
          <p:cNvSpPr txBox="1"/>
          <p:nvPr/>
        </p:nvSpPr>
        <p:spPr>
          <a:xfrm>
            <a:off x="11119104" y="6492240"/>
            <a:ext cx="594360" cy="228600"/>
          </a:xfrm>
          <a:prstGeom prst="rect">
            <a:avLst/>
          </a:prstGeom>
          <a:noFill/>
        </p:spPr>
        <p:txBody>
          <a:bodyPr wrap="none" lIns="0" rIns="0" tIns="0" bIns="0" anchor="t">
            <a:spAutoFit/>
          </a:bodyPr>
          <a:lstStyle/>
          <a:p>
            <a:pPr>
              <a:lnSpc>
                <a:spcPts val="1160"/>
              </a:lnSpc>
              <a:spcBef>
                <a:spcPts val="0"/>
              </a:spcBef>
              <a:spcAft>
                <a:spcPts val="0"/>
              </a:spcAft>
              <a:defRPr sz="1000" b="1">
                <a:solidFill>
                  <a:srgbClr val="4B6074"/>
                </a:solidFill>
                <a:latin typeface="Arial"/>
              </a:defRPr>
            </a:pPr>
            <a:r>
              <a:t>06 / 10</a:t>
            </a:r>
          </a:p>
        </p:txBody>
      </p:sp>
      <p:sp>
        <p:nvSpPr>
          <p:cNvPr id="8" name="Rounded Rectangle 7"/>
          <p:cNvSpPr/>
          <p:nvPr/>
        </p:nvSpPr>
        <p:spPr>
          <a:xfrm>
            <a:off x="548640" y="1901952"/>
            <a:ext cx="7498079" cy="3968496"/>
          </a:xfrm>
          <a:prstGeom prst="roundRect">
            <a:avLst>
              <a:gd name="adj" fmla="val 12000"/>
            </a:avLst>
          </a:prstGeom>
          <a:solidFill>
            <a:srgbClr val="14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2185416"/>
            <a:ext cx="6931152" cy="3429000"/>
          </a:xfrm>
          <a:prstGeom prst="rect">
            <a:avLst/>
          </a:prstGeom>
          <a:noFill/>
        </p:spPr>
        <p:txBody>
          <a:bodyPr wrap="none" lIns="0" rIns="0" tIns="0" bIns="0" anchor="t">
            <a:spAutoFit/>
          </a:bodyPr>
          <a:lstStyle/>
          <a:p>
            <a:pPr>
              <a:lnSpc>
                <a:spcPts val="2318"/>
              </a:lnSpc>
              <a:spcBef>
                <a:spcPts val="0"/>
              </a:spcBef>
              <a:spcAft>
                <a:spcPts val="0"/>
              </a:spcAft>
              <a:defRPr sz="1900" b="0">
                <a:solidFill>
                  <a:srgbClr val="FFFFFF"/>
                </a:solidFill>
                <a:latin typeface="Arial"/>
              </a:defRPr>
            </a:pPr>
            <a:r>
              <a:t>Создай локальную HTML-страницу для 10 класса.</a:t>
            </a:r>
          </a:p>
          <a:p>
            <a:pPr>
              <a:lnSpc>
                <a:spcPts val="2318"/>
              </a:lnSpc>
              <a:spcBef>
                <a:spcPts val="0"/>
              </a:spcBef>
              <a:spcAft>
                <a:spcPts val="0"/>
              </a:spcAft>
              <a:defRPr sz="1900" b="0">
                <a:solidFill>
                  <a:srgbClr val="FFFFFF"/>
                </a:solidFill>
                <a:latin typeface="Arial"/>
              </a:defRPr>
            </a:pPr>
            <a:r>
              <a:t>Тема: движение с постоянным ускорением.</a:t>
            </a:r>
          </a:p>
          <a:p>
            <a:pPr>
              <a:lnSpc>
                <a:spcPts val="2318"/>
              </a:lnSpc>
              <a:spcBef>
                <a:spcPts val="0"/>
              </a:spcBef>
              <a:spcAft>
                <a:spcPts val="0"/>
              </a:spcAft>
              <a:defRPr sz="1900" b="0">
                <a:solidFill>
                  <a:srgbClr val="FFFFFF"/>
                </a:solidFill>
                <a:latin typeface="Arial"/>
              </a:defRPr>
            </a:pPr>
            <a:r>
              <a:t>Ввод: v₀ (м/с), a (м/с²), t (с).</a:t>
            </a:r>
          </a:p>
          <a:p>
            <a:pPr>
              <a:lnSpc>
                <a:spcPts val="2318"/>
              </a:lnSpc>
              <a:spcBef>
                <a:spcPts val="0"/>
              </a:spcBef>
              <a:spcAft>
                <a:spcPts val="0"/>
              </a:spcAft>
              <a:defRPr sz="1900" b="0">
                <a:solidFill>
                  <a:srgbClr val="FFFFFF"/>
                </a:solidFill>
                <a:latin typeface="Arial"/>
              </a:defRPr>
            </a:pPr>
            <a:r>
              <a:t>Покажи формулу s = v₀t + at²/2 и ответ в метрах.</a:t>
            </a:r>
          </a:p>
          <a:p>
            <a:pPr>
              <a:lnSpc>
                <a:spcPts val="2318"/>
              </a:lnSpc>
              <a:spcBef>
                <a:spcPts val="0"/>
              </a:spcBef>
              <a:spcAft>
                <a:spcPts val="0"/>
              </a:spcAft>
              <a:defRPr sz="1900" b="0">
                <a:solidFill>
                  <a:srgbClr val="FFFFFF"/>
                </a:solidFill>
                <a:latin typeface="Arial"/>
              </a:defRPr>
            </a:pPr>
            <a:r>
              <a:t>Добавь пояснение. Страница работает без интернета.</a:t>
            </a:r>
          </a:p>
          <a:p>
            <a:pPr>
              <a:lnSpc>
                <a:spcPts val="2318"/>
              </a:lnSpc>
              <a:spcBef>
                <a:spcPts val="0"/>
              </a:spcBef>
              <a:spcAft>
                <a:spcPts val="0"/>
              </a:spcAft>
              <a:defRPr sz="1900" b="0">
                <a:solidFill>
                  <a:srgbClr val="FFFFFF"/>
                </a:solidFill>
                <a:latin typeface="Arial"/>
              </a:defRPr>
            </a:pPr>
            <a:r>
              <a:t>Проверь: v₀ = 2, a = 1, t = 2 → s = 6.</a:t>
            </a:r>
          </a:p>
          <a:p>
            <a:pPr>
              <a:lnSpc>
                <a:spcPts val="2318"/>
              </a:lnSpc>
              <a:spcBef>
                <a:spcPts val="0"/>
              </a:spcBef>
              <a:spcAft>
                <a:spcPts val="0"/>
              </a:spcAft>
              <a:defRPr sz="1900" b="0">
                <a:solidFill>
                  <a:srgbClr val="FFFFFF"/>
                </a:solidFill>
                <a:latin typeface="Arial"/>
              </a:defRPr>
            </a:pPr>
            <a:r>
              <a:t>Объясни, как открыть страницу и проверить расчёт.</a:t>
            </a:r>
          </a:p>
        </p:txBody>
      </p:sp>
      <p:sp>
        <p:nvSpPr>
          <p:cNvPr id="10" name="TextBox 9"/>
          <p:cNvSpPr txBox="1"/>
          <p:nvPr/>
        </p:nvSpPr>
        <p:spPr>
          <a:xfrm>
            <a:off x="8458200" y="2148840"/>
            <a:ext cx="2926080" cy="393192"/>
          </a:xfrm>
          <a:prstGeom prst="rect">
            <a:avLst/>
          </a:prstGeom>
          <a:noFill/>
        </p:spPr>
        <p:txBody>
          <a:bodyPr wrap="none" lIns="0" rIns="0" tIns="0" bIns="0" anchor="t">
            <a:spAutoFit/>
          </a:bodyPr>
          <a:lstStyle/>
          <a:p>
            <a:pPr>
              <a:lnSpc>
                <a:spcPts val="2668"/>
              </a:lnSpc>
              <a:spcBef>
                <a:spcPts val="0"/>
              </a:spcBef>
              <a:spcAft>
                <a:spcPts val="0"/>
              </a:spcAft>
              <a:defRPr sz="2300" b="1">
                <a:solidFill>
                  <a:srgbClr val="007A78"/>
                </a:solidFill>
                <a:latin typeface="Arial"/>
              </a:defRPr>
            </a:pPr>
            <a:r>
              <a:t>Цель</a:t>
            </a:r>
          </a:p>
        </p:txBody>
      </p:sp>
      <p:sp>
        <p:nvSpPr>
          <p:cNvPr id="11" name="TextBox 10"/>
          <p:cNvSpPr txBox="1"/>
          <p:nvPr/>
        </p:nvSpPr>
        <p:spPr>
          <a:xfrm>
            <a:off x="8458200" y="2633472"/>
            <a:ext cx="2926080" cy="640080"/>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4B6074"/>
                </a:solidFill>
                <a:latin typeface="Arial"/>
              </a:defRPr>
            </a:pPr>
            <a:r>
              <a:t>Что создаём?</a:t>
            </a:r>
          </a:p>
        </p:txBody>
      </p:sp>
      <p:sp>
        <p:nvSpPr>
          <p:cNvPr id="12" name="TextBox 11"/>
          <p:cNvSpPr txBox="1"/>
          <p:nvPr/>
        </p:nvSpPr>
        <p:spPr>
          <a:xfrm>
            <a:off x="8458200" y="3328416"/>
            <a:ext cx="2926080" cy="393192"/>
          </a:xfrm>
          <a:prstGeom prst="rect">
            <a:avLst/>
          </a:prstGeom>
          <a:noFill/>
        </p:spPr>
        <p:txBody>
          <a:bodyPr wrap="none" lIns="0" rIns="0" tIns="0" bIns="0" anchor="t">
            <a:spAutoFit/>
          </a:bodyPr>
          <a:lstStyle/>
          <a:p>
            <a:pPr>
              <a:lnSpc>
                <a:spcPts val="2668"/>
              </a:lnSpc>
              <a:spcBef>
                <a:spcPts val="0"/>
              </a:spcBef>
              <a:spcAft>
                <a:spcPts val="0"/>
              </a:spcAft>
              <a:defRPr sz="2300" b="1">
                <a:solidFill>
                  <a:srgbClr val="007A78"/>
                </a:solidFill>
                <a:latin typeface="Arial"/>
              </a:defRPr>
            </a:pPr>
            <a:r>
              <a:t>Условия</a:t>
            </a:r>
          </a:p>
        </p:txBody>
      </p:sp>
      <p:sp>
        <p:nvSpPr>
          <p:cNvPr id="13" name="TextBox 12"/>
          <p:cNvSpPr txBox="1"/>
          <p:nvPr/>
        </p:nvSpPr>
        <p:spPr>
          <a:xfrm>
            <a:off x="8458200" y="3813048"/>
            <a:ext cx="2926080" cy="640080"/>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4B6074"/>
                </a:solidFill>
                <a:latin typeface="Arial"/>
              </a:defRPr>
            </a:pPr>
            <a:r>
              <a:t>Как это работает?</a:t>
            </a:r>
          </a:p>
        </p:txBody>
      </p:sp>
      <p:sp>
        <p:nvSpPr>
          <p:cNvPr id="14" name="TextBox 13"/>
          <p:cNvSpPr txBox="1"/>
          <p:nvPr/>
        </p:nvSpPr>
        <p:spPr>
          <a:xfrm>
            <a:off x="8458200" y="4507992"/>
            <a:ext cx="2926080" cy="393192"/>
          </a:xfrm>
          <a:prstGeom prst="rect">
            <a:avLst/>
          </a:prstGeom>
          <a:noFill/>
        </p:spPr>
        <p:txBody>
          <a:bodyPr wrap="none" lIns="0" rIns="0" tIns="0" bIns="0" anchor="t">
            <a:spAutoFit/>
          </a:bodyPr>
          <a:lstStyle/>
          <a:p>
            <a:pPr>
              <a:lnSpc>
                <a:spcPts val="2668"/>
              </a:lnSpc>
              <a:spcBef>
                <a:spcPts val="0"/>
              </a:spcBef>
              <a:spcAft>
                <a:spcPts val="0"/>
              </a:spcAft>
              <a:defRPr sz="2300" b="1">
                <a:solidFill>
                  <a:srgbClr val="007A78"/>
                </a:solidFill>
                <a:latin typeface="Arial"/>
              </a:defRPr>
            </a:pPr>
            <a:r>
              <a:t>Критерий</a:t>
            </a:r>
          </a:p>
        </p:txBody>
      </p:sp>
      <p:sp>
        <p:nvSpPr>
          <p:cNvPr id="15" name="TextBox 14"/>
          <p:cNvSpPr txBox="1"/>
          <p:nvPr/>
        </p:nvSpPr>
        <p:spPr>
          <a:xfrm>
            <a:off x="8458200" y="4992624"/>
            <a:ext cx="2926080" cy="640080"/>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4B6074"/>
                </a:solidFill>
                <a:latin typeface="Arial"/>
              </a:defRPr>
            </a:pPr>
            <a:r>
              <a:t>Какой ответ ожидаем?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none" lIns="0" rIns="0" tIns="0" bIns="0" anchor="t">
            <a:spAutoFit/>
          </a:bodyPr>
          <a:lstStyle/>
          <a:p>
            <a:pPr>
              <a:lnSpc>
                <a:spcPts val="1276"/>
              </a:lnSpc>
              <a:spcBef>
                <a:spcPts val="0"/>
              </a:spcBef>
              <a:spcAft>
                <a:spcPts val="0"/>
              </a:spcAft>
              <a:defRPr sz="1100" b="1">
                <a:solidFill>
                  <a:srgbClr val="007A78"/>
                </a:solidFill>
                <a:latin typeface="Arial"/>
              </a:defRPr>
            </a:pPr>
            <a:r>
              <a:t>ПОМОЩНИК СТРОИТ; ТЫ ПРОВЕРЯЕШЬ СМЫСЛ</a:t>
            </a:r>
          </a:p>
        </p:txBody>
      </p:sp>
      <p:sp>
        <p:nvSpPr>
          <p:cNvPr id="3" name="TextBox 2"/>
          <p:cNvSpPr txBox="1"/>
          <p:nvPr/>
        </p:nvSpPr>
        <p:spPr>
          <a:xfrm>
            <a:off x="502920" y="786384"/>
            <a:ext cx="11064240" cy="594360"/>
          </a:xfrm>
          <a:prstGeom prst="rect">
            <a:avLst/>
          </a:prstGeom>
          <a:noFill/>
        </p:spPr>
        <p:txBody>
          <a:bodyPr wrap="none" lIns="0" rIns="0" tIns="0" bIns="0" anchor="t">
            <a:spAutoFit/>
          </a:bodyPr>
          <a:lstStyle/>
          <a:p>
            <a:pPr>
              <a:lnSpc>
                <a:spcPts val="3596"/>
              </a:lnSpc>
              <a:spcBef>
                <a:spcPts val="0"/>
              </a:spcBef>
              <a:spcAft>
                <a:spcPts val="0"/>
              </a:spcAft>
              <a:defRPr sz="3100" b="1">
                <a:solidFill>
                  <a:srgbClr val="172B3A"/>
                </a:solidFill>
                <a:latin typeface="Arial"/>
              </a:defRPr>
            </a:pPr>
            <a:r>
              <a:t>От данных — к графику</a:t>
            </a:r>
          </a:p>
        </p:txBody>
      </p:sp>
      <p:sp>
        <p:nvSpPr>
          <p:cNvPr id="4" name="TextBox 3"/>
          <p:cNvSpPr txBox="1"/>
          <p:nvPr/>
        </p:nvSpPr>
        <p:spPr>
          <a:xfrm>
            <a:off x="521207" y="1444752"/>
            <a:ext cx="10972800" cy="502920"/>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Пример: v₀ = 2 м/с, a = 1 м/с². Тогда s(t) = 2t + 0,5t².</a:t>
            </a:r>
          </a:p>
        </p:txBody>
      </p:sp>
      <p:cxnSp>
        <p:nvCxnSpPr>
          <p:cNvPr id="5" name="Connector 4"/>
          <p:cNvCxnSpPr/>
          <p:nvPr/>
        </p:nvCxnSpPr>
        <p:spPr>
          <a:xfrm>
            <a:off x="502920" y="6382512"/>
            <a:ext cx="11183112" cy="0"/>
          </a:xfrm>
          <a:prstGeom prst="line">
            <a:avLst/>
          </a:prstGeom>
          <a:ln w="12700">
            <a:solidFill>
              <a:srgbClr val="D8E1E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382512"/>
            <a:ext cx="7828178" cy="0"/>
          </a:xfrm>
          <a:prstGeom prst="line">
            <a:avLst/>
          </a:prstGeom>
          <a:ln w="25400">
            <a:solidFill>
              <a:srgbClr val="007A7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19672"/>
            <a:ext cx="9144000" cy="182880"/>
          </a:xfrm>
          <a:prstGeom prst="rect">
            <a:avLst/>
          </a:prstGeom>
          <a:noFill/>
        </p:spPr>
        <p:txBody>
          <a:bodyPr wrap="none" lIns="0" rIns="0" tIns="0" bIns="0" anchor="t">
            <a:spAutoFit/>
          </a:bodyPr>
          <a:lstStyle/>
          <a:p>
            <a:pPr>
              <a:lnSpc>
                <a:spcPts val="1044"/>
              </a:lnSpc>
              <a:spcBef>
                <a:spcPts val="0"/>
              </a:spcBef>
              <a:spcAft>
                <a:spcPts val="0"/>
              </a:spcAft>
              <a:defRPr sz="900" b="0">
                <a:solidFill>
                  <a:srgbClr val="4B6074"/>
                </a:solidFill>
                <a:latin typeface="Arial"/>
              </a:defRPr>
            </a:pPr>
            <a:r>
              <a:t>ВОЗМОЖНОСТИ CODEX • ИНФОРМАТИКА • 10 КЛАСС</a:t>
            </a:r>
          </a:p>
        </p:txBody>
      </p:sp>
      <p:sp>
        <p:nvSpPr>
          <p:cNvPr id="8" name="TextBox 7"/>
          <p:cNvSpPr txBox="1"/>
          <p:nvPr/>
        </p:nvSpPr>
        <p:spPr>
          <a:xfrm>
            <a:off x="11119104" y="6492240"/>
            <a:ext cx="594360" cy="228600"/>
          </a:xfrm>
          <a:prstGeom prst="rect">
            <a:avLst/>
          </a:prstGeom>
          <a:noFill/>
        </p:spPr>
        <p:txBody>
          <a:bodyPr wrap="none" lIns="0" rIns="0" tIns="0" bIns="0" anchor="t">
            <a:spAutoFit/>
          </a:bodyPr>
          <a:lstStyle/>
          <a:p>
            <a:pPr>
              <a:lnSpc>
                <a:spcPts val="1160"/>
              </a:lnSpc>
              <a:spcBef>
                <a:spcPts val="0"/>
              </a:spcBef>
              <a:spcAft>
                <a:spcPts val="0"/>
              </a:spcAft>
              <a:defRPr sz="1000" b="1">
                <a:solidFill>
                  <a:srgbClr val="4B6074"/>
                </a:solidFill>
                <a:latin typeface="Arial"/>
              </a:defRPr>
            </a:pPr>
            <a:r>
              <a:t>07 / 10</a:t>
            </a:r>
          </a:p>
        </p:txBody>
      </p:sp>
      <p:sp>
        <p:nvSpPr>
          <p:cNvPr id="9" name="Rounded Rectangle 8"/>
          <p:cNvSpPr/>
          <p:nvPr/>
        </p:nvSpPr>
        <p:spPr>
          <a:xfrm>
            <a:off x="548640" y="2148840"/>
            <a:ext cx="3291840" cy="3401568"/>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423160"/>
            <a:ext cx="1188720" cy="384048"/>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t, с</a:t>
            </a:r>
          </a:p>
        </p:txBody>
      </p:sp>
      <p:sp>
        <p:nvSpPr>
          <p:cNvPr id="11" name="TextBox 10"/>
          <p:cNvSpPr txBox="1"/>
          <p:nvPr/>
        </p:nvSpPr>
        <p:spPr>
          <a:xfrm>
            <a:off x="2331720" y="2423160"/>
            <a:ext cx="1143000" cy="384048"/>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s, м</a:t>
            </a:r>
          </a:p>
        </p:txBody>
      </p:sp>
      <p:sp>
        <p:nvSpPr>
          <p:cNvPr id="12" name="TextBox 11"/>
          <p:cNvSpPr txBox="1"/>
          <p:nvPr/>
        </p:nvSpPr>
        <p:spPr>
          <a:xfrm>
            <a:off x="932688" y="3017520"/>
            <a:ext cx="1097280" cy="301752"/>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4B6074"/>
                </a:solidFill>
                <a:latin typeface="Arial"/>
              </a:defRPr>
            </a:pPr>
            <a:r>
              <a:t>0</a:t>
            </a:r>
          </a:p>
        </p:txBody>
      </p:sp>
      <p:sp>
        <p:nvSpPr>
          <p:cNvPr id="13" name="TextBox 12"/>
          <p:cNvSpPr txBox="1"/>
          <p:nvPr/>
        </p:nvSpPr>
        <p:spPr>
          <a:xfrm>
            <a:off x="2395728" y="3017520"/>
            <a:ext cx="1097280" cy="301752"/>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4B6074"/>
                </a:solidFill>
                <a:latin typeface="Arial"/>
              </a:defRPr>
            </a:pPr>
            <a:r>
              <a:t>0</a:t>
            </a:r>
          </a:p>
        </p:txBody>
      </p:sp>
      <p:sp>
        <p:nvSpPr>
          <p:cNvPr id="14" name="TextBox 13"/>
          <p:cNvSpPr txBox="1"/>
          <p:nvPr/>
        </p:nvSpPr>
        <p:spPr>
          <a:xfrm>
            <a:off x="932688" y="3438144"/>
            <a:ext cx="1097280" cy="301752"/>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4B6074"/>
                </a:solidFill>
                <a:latin typeface="Arial"/>
              </a:defRPr>
            </a:pPr>
            <a:r>
              <a:t>1</a:t>
            </a:r>
          </a:p>
        </p:txBody>
      </p:sp>
      <p:sp>
        <p:nvSpPr>
          <p:cNvPr id="15" name="TextBox 14"/>
          <p:cNvSpPr txBox="1"/>
          <p:nvPr/>
        </p:nvSpPr>
        <p:spPr>
          <a:xfrm>
            <a:off x="2395728" y="3438144"/>
            <a:ext cx="1097280" cy="301752"/>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4B6074"/>
                </a:solidFill>
                <a:latin typeface="Arial"/>
              </a:defRPr>
            </a:pPr>
            <a:r>
              <a:t>2,5</a:t>
            </a:r>
          </a:p>
        </p:txBody>
      </p:sp>
      <p:sp>
        <p:nvSpPr>
          <p:cNvPr id="16" name="TextBox 15"/>
          <p:cNvSpPr txBox="1"/>
          <p:nvPr/>
        </p:nvSpPr>
        <p:spPr>
          <a:xfrm>
            <a:off x="932688" y="3858768"/>
            <a:ext cx="1097280" cy="301752"/>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4B6074"/>
                </a:solidFill>
                <a:latin typeface="Arial"/>
              </a:defRPr>
            </a:pPr>
            <a:r>
              <a:t>2</a:t>
            </a:r>
          </a:p>
        </p:txBody>
      </p:sp>
      <p:sp>
        <p:nvSpPr>
          <p:cNvPr id="17" name="TextBox 16"/>
          <p:cNvSpPr txBox="1"/>
          <p:nvPr/>
        </p:nvSpPr>
        <p:spPr>
          <a:xfrm>
            <a:off x="2395728" y="3858768"/>
            <a:ext cx="1097280" cy="301752"/>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4B6074"/>
                </a:solidFill>
                <a:latin typeface="Arial"/>
              </a:defRPr>
            </a:pPr>
            <a:r>
              <a:t>6</a:t>
            </a:r>
          </a:p>
        </p:txBody>
      </p:sp>
      <p:sp>
        <p:nvSpPr>
          <p:cNvPr id="18" name="TextBox 17"/>
          <p:cNvSpPr txBox="1"/>
          <p:nvPr/>
        </p:nvSpPr>
        <p:spPr>
          <a:xfrm>
            <a:off x="932688" y="4279392"/>
            <a:ext cx="1097280" cy="301752"/>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4B6074"/>
                </a:solidFill>
                <a:latin typeface="Arial"/>
              </a:defRPr>
            </a:pPr>
            <a:r>
              <a:t>3</a:t>
            </a:r>
          </a:p>
        </p:txBody>
      </p:sp>
      <p:sp>
        <p:nvSpPr>
          <p:cNvPr id="19" name="TextBox 18"/>
          <p:cNvSpPr txBox="1"/>
          <p:nvPr/>
        </p:nvSpPr>
        <p:spPr>
          <a:xfrm>
            <a:off x="2395728" y="4279392"/>
            <a:ext cx="1097280" cy="301752"/>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4B6074"/>
                </a:solidFill>
                <a:latin typeface="Arial"/>
              </a:defRPr>
            </a:pPr>
            <a:r>
              <a:t>10,5</a:t>
            </a:r>
          </a:p>
        </p:txBody>
      </p:sp>
      <p:sp>
        <p:nvSpPr>
          <p:cNvPr id="20" name="TextBox 19"/>
          <p:cNvSpPr txBox="1"/>
          <p:nvPr/>
        </p:nvSpPr>
        <p:spPr>
          <a:xfrm>
            <a:off x="932688" y="4700016"/>
            <a:ext cx="1097280" cy="301752"/>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4B6074"/>
                </a:solidFill>
                <a:latin typeface="Arial"/>
              </a:defRPr>
            </a:pPr>
            <a:r>
              <a:t>4</a:t>
            </a:r>
          </a:p>
        </p:txBody>
      </p:sp>
      <p:sp>
        <p:nvSpPr>
          <p:cNvPr id="21" name="TextBox 20"/>
          <p:cNvSpPr txBox="1"/>
          <p:nvPr/>
        </p:nvSpPr>
        <p:spPr>
          <a:xfrm>
            <a:off x="2395728" y="4700016"/>
            <a:ext cx="1097280" cy="301752"/>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4B6074"/>
                </a:solidFill>
                <a:latin typeface="Arial"/>
              </a:defRPr>
            </a:pPr>
            <a:r>
              <a:t>16</a:t>
            </a:r>
          </a:p>
        </p:txBody>
      </p:sp>
      <p:sp>
        <p:nvSpPr>
          <p:cNvPr id="22" name="Rounded Rectangle 21"/>
          <p:cNvSpPr/>
          <p:nvPr/>
        </p:nvSpPr>
        <p:spPr>
          <a:xfrm>
            <a:off x="4160520" y="2148840"/>
            <a:ext cx="7479792" cy="3401568"/>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892040" y="5038344"/>
            <a:ext cx="5989319" cy="0"/>
          </a:xfrm>
          <a:prstGeom prst="line">
            <a:avLst/>
          </a:prstGeom>
          <a:ln w="8890">
            <a:solidFill>
              <a:srgbClr val="D8E1E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53127" y="4937759"/>
            <a:ext cx="338328" cy="256032"/>
          </a:xfrm>
          <a:prstGeom prst="rect">
            <a:avLst/>
          </a:prstGeom>
          <a:noFill/>
        </p:spPr>
        <p:txBody>
          <a:bodyPr wrap="none" lIns="0" rIns="0" tIns="0" bIns="0" anchor="t">
            <a:spAutoFit/>
          </a:bodyPr>
          <a:lstStyle/>
          <a:p>
            <a:pPr>
              <a:lnSpc>
                <a:spcPts val="1623"/>
              </a:lnSpc>
              <a:spcBef>
                <a:spcPts val="0"/>
              </a:spcBef>
              <a:spcAft>
                <a:spcPts val="0"/>
              </a:spcAft>
              <a:defRPr sz="1400" b="0">
                <a:solidFill>
                  <a:srgbClr val="4B6074"/>
                </a:solidFill>
                <a:latin typeface="Arial"/>
              </a:defRPr>
            </a:pPr>
            <a:r>
              <a:t>0</a:t>
            </a:r>
          </a:p>
        </p:txBody>
      </p:sp>
      <p:cxnSp>
        <p:nvCxnSpPr>
          <p:cNvPr id="25" name="Connector 24"/>
          <p:cNvCxnSpPr/>
          <p:nvPr/>
        </p:nvCxnSpPr>
        <p:spPr>
          <a:xfrm>
            <a:off x="4892040" y="4494276"/>
            <a:ext cx="5989319" cy="0"/>
          </a:xfrm>
          <a:prstGeom prst="line">
            <a:avLst/>
          </a:prstGeom>
          <a:ln w="8890">
            <a:solidFill>
              <a:srgbClr val="D8E1ED"/>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453127" y="4393692"/>
            <a:ext cx="338328" cy="256032"/>
          </a:xfrm>
          <a:prstGeom prst="rect">
            <a:avLst/>
          </a:prstGeom>
          <a:noFill/>
        </p:spPr>
        <p:txBody>
          <a:bodyPr wrap="none" lIns="0" rIns="0" tIns="0" bIns="0" anchor="t">
            <a:spAutoFit/>
          </a:bodyPr>
          <a:lstStyle/>
          <a:p>
            <a:pPr>
              <a:lnSpc>
                <a:spcPts val="1623"/>
              </a:lnSpc>
              <a:spcBef>
                <a:spcPts val="0"/>
              </a:spcBef>
              <a:spcAft>
                <a:spcPts val="0"/>
              </a:spcAft>
              <a:defRPr sz="1400" b="0">
                <a:solidFill>
                  <a:srgbClr val="4B6074"/>
                </a:solidFill>
                <a:latin typeface="Arial"/>
              </a:defRPr>
            </a:pPr>
            <a:r>
              <a:t>4</a:t>
            </a:r>
          </a:p>
        </p:txBody>
      </p:sp>
      <p:cxnSp>
        <p:nvCxnSpPr>
          <p:cNvPr id="27" name="Connector 26"/>
          <p:cNvCxnSpPr/>
          <p:nvPr/>
        </p:nvCxnSpPr>
        <p:spPr>
          <a:xfrm>
            <a:off x="4892040" y="3950208"/>
            <a:ext cx="5989319" cy="0"/>
          </a:xfrm>
          <a:prstGeom prst="line">
            <a:avLst/>
          </a:prstGeom>
          <a:ln w="8890">
            <a:solidFill>
              <a:srgbClr val="D8E1ED"/>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453127" y="3849624"/>
            <a:ext cx="338328" cy="256032"/>
          </a:xfrm>
          <a:prstGeom prst="rect">
            <a:avLst/>
          </a:prstGeom>
          <a:noFill/>
        </p:spPr>
        <p:txBody>
          <a:bodyPr wrap="none" lIns="0" rIns="0" tIns="0" bIns="0" anchor="t">
            <a:spAutoFit/>
          </a:bodyPr>
          <a:lstStyle/>
          <a:p>
            <a:pPr>
              <a:lnSpc>
                <a:spcPts val="1623"/>
              </a:lnSpc>
              <a:spcBef>
                <a:spcPts val="0"/>
              </a:spcBef>
              <a:spcAft>
                <a:spcPts val="0"/>
              </a:spcAft>
              <a:defRPr sz="1400" b="0">
                <a:solidFill>
                  <a:srgbClr val="4B6074"/>
                </a:solidFill>
                <a:latin typeface="Arial"/>
              </a:defRPr>
            </a:pPr>
            <a:r>
              <a:t>8</a:t>
            </a:r>
          </a:p>
        </p:txBody>
      </p:sp>
      <p:cxnSp>
        <p:nvCxnSpPr>
          <p:cNvPr id="29" name="Connector 28"/>
          <p:cNvCxnSpPr/>
          <p:nvPr/>
        </p:nvCxnSpPr>
        <p:spPr>
          <a:xfrm>
            <a:off x="4892040" y="3406139"/>
            <a:ext cx="5989319" cy="0"/>
          </a:xfrm>
          <a:prstGeom prst="line">
            <a:avLst/>
          </a:prstGeom>
          <a:ln w="8890">
            <a:solidFill>
              <a:srgbClr val="D8E1ED"/>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453127" y="3305556"/>
            <a:ext cx="338328" cy="256032"/>
          </a:xfrm>
          <a:prstGeom prst="rect">
            <a:avLst/>
          </a:prstGeom>
          <a:noFill/>
        </p:spPr>
        <p:txBody>
          <a:bodyPr wrap="none" lIns="0" rIns="0" tIns="0" bIns="0" anchor="t">
            <a:spAutoFit/>
          </a:bodyPr>
          <a:lstStyle/>
          <a:p>
            <a:pPr>
              <a:lnSpc>
                <a:spcPts val="1623"/>
              </a:lnSpc>
              <a:spcBef>
                <a:spcPts val="0"/>
              </a:spcBef>
              <a:spcAft>
                <a:spcPts val="0"/>
              </a:spcAft>
              <a:defRPr sz="1400" b="0">
                <a:solidFill>
                  <a:srgbClr val="4B6074"/>
                </a:solidFill>
                <a:latin typeface="Arial"/>
              </a:defRPr>
            </a:pPr>
            <a:r>
              <a:t>12</a:t>
            </a:r>
          </a:p>
        </p:txBody>
      </p:sp>
      <p:cxnSp>
        <p:nvCxnSpPr>
          <p:cNvPr id="31" name="Connector 30"/>
          <p:cNvCxnSpPr/>
          <p:nvPr/>
        </p:nvCxnSpPr>
        <p:spPr>
          <a:xfrm>
            <a:off x="4892040" y="2862072"/>
            <a:ext cx="5989319" cy="0"/>
          </a:xfrm>
          <a:prstGeom prst="line">
            <a:avLst/>
          </a:prstGeom>
          <a:ln w="8890">
            <a:solidFill>
              <a:srgbClr val="D8E1ED"/>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453127" y="2761488"/>
            <a:ext cx="338328" cy="256032"/>
          </a:xfrm>
          <a:prstGeom prst="rect">
            <a:avLst/>
          </a:prstGeom>
          <a:noFill/>
        </p:spPr>
        <p:txBody>
          <a:bodyPr wrap="none" lIns="0" rIns="0" tIns="0" bIns="0" anchor="t">
            <a:spAutoFit/>
          </a:bodyPr>
          <a:lstStyle/>
          <a:p>
            <a:pPr>
              <a:lnSpc>
                <a:spcPts val="1623"/>
              </a:lnSpc>
              <a:spcBef>
                <a:spcPts val="0"/>
              </a:spcBef>
              <a:spcAft>
                <a:spcPts val="0"/>
              </a:spcAft>
              <a:defRPr sz="1400" b="0">
                <a:solidFill>
                  <a:srgbClr val="4B6074"/>
                </a:solidFill>
                <a:latin typeface="Arial"/>
              </a:defRPr>
            </a:pPr>
            <a:r>
              <a:t>16</a:t>
            </a:r>
          </a:p>
        </p:txBody>
      </p:sp>
      <p:cxnSp>
        <p:nvCxnSpPr>
          <p:cNvPr id="33" name="Connector 32"/>
          <p:cNvCxnSpPr/>
          <p:nvPr/>
        </p:nvCxnSpPr>
        <p:spPr>
          <a:xfrm>
            <a:off x="4892040" y="5038344"/>
            <a:ext cx="6099047" cy="0"/>
          </a:xfrm>
          <a:prstGeom prst="line">
            <a:avLst/>
          </a:prstGeom>
          <a:ln w="16510">
            <a:solidFill>
              <a:srgbClr val="172B3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892040" y="2761488"/>
            <a:ext cx="0" cy="2276856"/>
          </a:xfrm>
          <a:prstGeom prst="line">
            <a:avLst/>
          </a:prstGeom>
          <a:ln w="16510">
            <a:solidFill>
              <a:srgbClr val="17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841748" y="5148072"/>
            <a:ext cx="228600" cy="228600"/>
          </a:xfrm>
          <a:prstGeom prst="rect">
            <a:avLst/>
          </a:prstGeom>
          <a:noFill/>
        </p:spPr>
        <p:txBody>
          <a:bodyPr wrap="none" lIns="0" rIns="0" tIns="0" bIns="0" anchor="t">
            <a:spAutoFit/>
          </a:bodyPr>
          <a:lstStyle/>
          <a:p>
            <a:pPr>
              <a:lnSpc>
                <a:spcPts val="1623"/>
              </a:lnSpc>
              <a:spcBef>
                <a:spcPts val="0"/>
              </a:spcBef>
              <a:spcAft>
                <a:spcPts val="0"/>
              </a:spcAft>
              <a:defRPr sz="1400" b="0">
                <a:solidFill>
                  <a:srgbClr val="4B6074"/>
                </a:solidFill>
                <a:latin typeface="Arial"/>
              </a:defRPr>
            </a:pPr>
            <a:r>
              <a:t>0</a:t>
            </a:r>
          </a:p>
        </p:txBody>
      </p:sp>
      <p:sp>
        <p:nvSpPr>
          <p:cNvPr id="36" name="TextBox 35"/>
          <p:cNvSpPr txBox="1"/>
          <p:nvPr/>
        </p:nvSpPr>
        <p:spPr>
          <a:xfrm>
            <a:off x="6339078" y="5148072"/>
            <a:ext cx="228600" cy="228600"/>
          </a:xfrm>
          <a:prstGeom prst="rect">
            <a:avLst/>
          </a:prstGeom>
          <a:noFill/>
        </p:spPr>
        <p:txBody>
          <a:bodyPr wrap="none" lIns="0" rIns="0" tIns="0" bIns="0" anchor="t">
            <a:spAutoFit/>
          </a:bodyPr>
          <a:lstStyle/>
          <a:p>
            <a:pPr>
              <a:lnSpc>
                <a:spcPts val="1623"/>
              </a:lnSpc>
              <a:spcBef>
                <a:spcPts val="0"/>
              </a:spcBef>
              <a:spcAft>
                <a:spcPts val="0"/>
              </a:spcAft>
              <a:defRPr sz="1400" b="0">
                <a:solidFill>
                  <a:srgbClr val="4B6074"/>
                </a:solidFill>
                <a:latin typeface="Arial"/>
              </a:defRPr>
            </a:pPr>
            <a:r>
              <a:t>1</a:t>
            </a:r>
          </a:p>
        </p:txBody>
      </p:sp>
      <p:sp>
        <p:nvSpPr>
          <p:cNvPr id="37" name="TextBox 36"/>
          <p:cNvSpPr txBox="1"/>
          <p:nvPr/>
        </p:nvSpPr>
        <p:spPr>
          <a:xfrm>
            <a:off x="7836408" y="5148072"/>
            <a:ext cx="228600" cy="228600"/>
          </a:xfrm>
          <a:prstGeom prst="rect">
            <a:avLst/>
          </a:prstGeom>
          <a:noFill/>
        </p:spPr>
        <p:txBody>
          <a:bodyPr wrap="none" lIns="0" rIns="0" tIns="0" bIns="0" anchor="t">
            <a:spAutoFit/>
          </a:bodyPr>
          <a:lstStyle/>
          <a:p>
            <a:pPr>
              <a:lnSpc>
                <a:spcPts val="1623"/>
              </a:lnSpc>
              <a:spcBef>
                <a:spcPts val="0"/>
              </a:spcBef>
              <a:spcAft>
                <a:spcPts val="0"/>
              </a:spcAft>
              <a:defRPr sz="1400" b="0">
                <a:solidFill>
                  <a:srgbClr val="4B6074"/>
                </a:solidFill>
                <a:latin typeface="Arial"/>
              </a:defRPr>
            </a:pPr>
            <a:r>
              <a:t>2</a:t>
            </a:r>
          </a:p>
        </p:txBody>
      </p:sp>
      <p:sp>
        <p:nvSpPr>
          <p:cNvPr id="38" name="TextBox 37"/>
          <p:cNvSpPr txBox="1"/>
          <p:nvPr/>
        </p:nvSpPr>
        <p:spPr>
          <a:xfrm>
            <a:off x="9333738" y="5148072"/>
            <a:ext cx="228600" cy="228600"/>
          </a:xfrm>
          <a:prstGeom prst="rect">
            <a:avLst/>
          </a:prstGeom>
          <a:noFill/>
        </p:spPr>
        <p:txBody>
          <a:bodyPr wrap="none" lIns="0" rIns="0" tIns="0" bIns="0" anchor="t">
            <a:spAutoFit/>
          </a:bodyPr>
          <a:lstStyle/>
          <a:p>
            <a:pPr>
              <a:lnSpc>
                <a:spcPts val="1623"/>
              </a:lnSpc>
              <a:spcBef>
                <a:spcPts val="0"/>
              </a:spcBef>
              <a:spcAft>
                <a:spcPts val="0"/>
              </a:spcAft>
              <a:defRPr sz="1400" b="0">
                <a:solidFill>
                  <a:srgbClr val="4B6074"/>
                </a:solidFill>
                <a:latin typeface="Arial"/>
              </a:defRPr>
            </a:pPr>
            <a:r>
              <a:t>3</a:t>
            </a:r>
          </a:p>
        </p:txBody>
      </p:sp>
      <p:sp>
        <p:nvSpPr>
          <p:cNvPr id="39" name="TextBox 38"/>
          <p:cNvSpPr txBox="1"/>
          <p:nvPr/>
        </p:nvSpPr>
        <p:spPr>
          <a:xfrm>
            <a:off x="10831067" y="5148072"/>
            <a:ext cx="228600" cy="228600"/>
          </a:xfrm>
          <a:prstGeom prst="rect">
            <a:avLst/>
          </a:prstGeom>
          <a:noFill/>
        </p:spPr>
        <p:txBody>
          <a:bodyPr wrap="none" lIns="0" rIns="0" tIns="0" bIns="0" anchor="t">
            <a:spAutoFit/>
          </a:bodyPr>
          <a:lstStyle/>
          <a:p>
            <a:pPr>
              <a:lnSpc>
                <a:spcPts val="1623"/>
              </a:lnSpc>
              <a:spcBef>
                <a:spcPts val="0"/>
              </a:spcBef>
              <a:spcAft>
                <a:spcPts val="0"/>
              </a:spcAft>
              <a:defRPr sz="1400" b="0">
                <a:solidFill>
                  <a:srgbClr val="4B6074"/>
                </a:solidFill>
                <a:latin typeface="Arial"/>
              </a:defRPr>
            </a:pPr>
            <a:r>
              <a:t>4</a:t>
            </a:r>
          </a:p>
        </p:txBody>
      </p:sp>
      <p:cxnSp>
        <p:nvCxnSpPr>
          <p:cNvPr id="40" name="Connector 39"/>
          <p:cNvCxnSpPr/>
          <p:nvPr/>
        </p:nvCxnSpPr>
        <p:spPr>
          <a:xfrm flipV="1">
            <a:off x="4892040" y="5010460"/>
            <a:ext cx="149733" cy="27884"/>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041773" y="4981216"/>
            <a:ext cx="149732" cy="29244"/>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191505" y="4950613"/>
            <a:ext cx="149734" cy="30603"/>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341239" y="4918649"/>
            <a:ext cx="149733" cy="31964"/>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490972" y="4885324"/>
            <a:ext cx="149732" cy="33325"/>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640704" y="4850640"/>
            <a:ext cx="149734" cy="34684"/>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790438" y="4814596"/>
            <a:ext cx="149733" cy="36044"/>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940171" y="4777191"/>
            <a:ext cx="149733" cy="37405"/>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089904" y="4738426"/>
            <a:ext cx="149733" cy="38765"/>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239637" y="4698301"/>
            <a:ext cx="149733" cy="40125"/>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389370" y="4656816"/>
            <a:ext cx="149732" cy="41485"/>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539102" y="4613970"/>
            <a:ext cx="149734" cy="42846"/>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688836" y="4569765"/>
            <a:ext cx="149733" cy="44205"/>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6838569" y="4524199"/>
            <a:ext cx="149733" cy="45566"/>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988302" y="4477273"/>
            <a:ext cx="149732" cy="46926"/>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7138034" y="4428987"/>
            <a:ext cx="149734" cy="48286"/>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7287768" y="4379341"/>
            <a:ext cx="149732" cy="49646"/>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7437500" y="4328335"/>
            <a:ext cx="149733" cy="51006"/>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587233" y="4275968"/>
            <a:ext cx="149734" cy="52367"/>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736967" y="4222242"/>
            <a:ext cx="149733" cy="53726"/>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886700" y="4167155"/>
            <a:ext cx="149733" cy="55087"/>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036433" y="4110708"/>
            <a:ext cx="149733" cy="56447"/>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186166" y="4052900"/>
            <a:ext cx="149732" cy="57808"/>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335898" y="3993733"/>
            <a:ext cx="149734" cy="59167"/>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485632" y="3933205"/>
            <a:ext cx="149733" cy="60528"/>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635365" y="3871318"/>
            <a:ext cx="149733" cy="61887"/>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785098" y="3808070"/>
            <a:ext cx="149733" cy="63248"/>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934831" y="3743462"/>
            <a:ext cx="149732" cy="64608"/>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9084563" y="3677493"/>
            <a:ext cx="149734" cy="65969"/>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234297" y="3610165"/>
            <a:ext cx="149733" cy="67328"/>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384030" y="3541476"/>
            <a:ext cx="149733" cy="68689"/>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533763" y="3471428"/>
            <a:ext cx="149733" cy="70048"/>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683496" y="3400019"/>
            <a:ext cx="149733" cy="71409"/>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833229" y="3327250"/>
            <a:ext cx="149733" cy="72769"/>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9982962" y="3253120"/>
            <a:ext cx="149733" cy="74130"/>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0132695" y="3177631"/>
            <a:ext cx="149733" cy="75489"/>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0282428" y="3100781"/>
            <a:ext cx="149733" cy="76850"/>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0432161" y="3022572"/>
            <a:ext cx="149732" cy="78209"/>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0581893" y="2943002"/>
            <a:ext cx="149733" cy="79570"/>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0731626" y="2862072"/>
            <a:ext cx="149733" cy="80930"/>
          </a:xfrm>
          <a:prstGeom prst="line">
            <a:avLst/>
          </a:prstGeom>
          <a:ln w="31750">
            <a:solidFill>
              <a:srgbClr val="007A78"/>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4841748" y="4988052"/>
            <a:ext cx="100584" cy="100584"/>
          </a:xfrm>
          <a:prstGeom prst="ellipse">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339078" y="4648009"/>
            <a:ext cx="100584" cy="100584"/>
          </a:xfrm>
          <a:prstGeom prst="ellipse">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836408" y="4171950"/>
            <a:ext cx="100584" cy="100584"/>
          </a:xfrm>
          <a:prstGeom prst="ellipse">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333738" y="3559873"/>
            <a:ext cx="100584" cy="100584"/>
          </a:xfrm>
          <a:prstGeom prst="ellipse">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0831067" y="2811779"/>
            <a:ext cx="100584" cy="100584"/>
          </a:xfrm>
          <a:prstGeom prst="ellipse">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663440" y="2450592"/>
            <a:ext cx="731520" cy="256032"/>
          </a:xfrm>
          <a:prstGeom prst="rect">
            <a:avLst/>
          </a:prstGeom>
          <a:noFill/>
        </p:spPr>
        <p:txBody>
          <a:bodyPr wrap="none" lIns="0" rIns="0" tIns="0" bIns="0" anchor="t">
            <a:spAutoFit/>
          </a:bodyPr>
          <a:lstStyle/>
          <a:p>
            <a:pPr>
              <a:lnSpc>
                <a:spcPts val="1739"/>
              </a:lnSpc>
              <a:spcBef>
                <a:spcPts val="0"/>
              </a:spcBef>
              <a:spcAft>
                <a:spcPts val="0"/>
              </a:spcAft>
              <a:defRPr sz="1500" b="1">
                <a:solidFill>
                  <a:srgbClr val="172B3A"/>
                </a:solidFill>
                <a:latin typeface="Arial"/>
              </a:defRPr>
            </a:pPr>
            <a:r>
              <a:t>s, м</a:t>
            </a:r>
          </a:p>
        </p:txBody>
      </p:sp>
      <p:sp>
        <p:nvSpPr>
          <p:cNvPr id="86" name="TextBox 85"/>
          <p:cNvSpPr txBox="1"/>
          <p:nvPr/>
        </p:nvSpPr>
        <p:spPr>
          <a:xfrm>
            <a:off x="10927080" y="4736592"/>
            <a:ext cx="484632" cy="274320"/>
          </a:xfrm>
          <a:prstGeom prst="rect">
            <a:avLst/>
          </a:prstGeom>
          <a:noFill/>
        </p:spPr>
        <p:txBody>
          <a:bodyPr wrap="none" lIns="0" rIns="0" tIns="0" bIns="0" anchor="t">
            <a:spAutoFit/>
          </a:bodyPr>
          <a:lstStyle/>
          <a:p>
            <a:pPr>
              <a:lnSpc>
                <a:spcPts val="1739"/>
              </a:lnSpc>
              <a:spcBef>
                <a:spcPts val="0"/>
              </a:spcBef>
              <a:spcAft>
                <a:spcPts val="0"/>
              </a:spcAft>
              <a:defRPr sz="1500" b="1">
                <a:solidFill>
                  <a:srgbClr val="172B3A"/>
                </a:solidFill>
                <a:latin typeface="Arial"/>
              </a:defRPr>
            </a:pPr>
            <a:r>
              <a:t>t, с</a:t>
            </a:r>
          </a:p>
        </p:txBody>
      </p:sp>
      <p:sp>
        <p:nvSpPr>
          <p:cNvPr id="87" name="TextBox 86"/>
          <p:cNvSpPr txBox="1"/>
          <p:nvPr/>
        </p:nvSpPr>
        <p:spPr>
          <a:xfrm>
            <a:off x="594360" y="5815584"/>
            <a:ext cx="10972800" cy="320040"/>
          </a:xfrm>
          <a:prstGeom prst="rect">
            <a:avLst/>
          </a:prstGeom>
          <a:noFill/>
        </p:spPr>
        <p:txBody>
          <a:bodyPr wrap="none" lIns="0" rIns="0" tIns="0" bIns="0" anchor="t">
            <a:spAutoFit/>
          </a:bodyPr>
          <a:lstStyle/>
          <a:p>
            <a:pPr>
              <a:lnSpc>
                <a:spcPts val="2320"/>
              </a:lnSpc>
              <a:spcBef>
                <a:spcPts val="0"/>
              </a:spcBef>
              <a:spcAft>
                <a:spcPts val="0"/>
              </a:spcAft>
              <a:defRPr sz="2000" b="1">
                <a:solidFill>
                  <a:srgbClr val="1D5D91"/>
                </a:solidFill>
                <a:latin typeface="Arial"/>
              </a:defRPr>
            </a:pPr>
            <a:r>
              <a:t>Проверь подписи осей, единицы, исходные числа и хотя бы одну точку.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none" lIns="0" rIns="0" tIns="0" bIns="0" anchor="t">
            <a:spAutoFit/>
          </a:bodyPr>
          <a:lstStyle/>
          <a:p>
            <a:pPr>
              <a:lnSpc>
                <a:spcPts val="1276"/>
              </a:lnSpc>
              <a:spcBef>
                <a:spcPts val="0"/>
              </a:spcBef>
              <a:spcAft>
                <a:spcPts val="0"/>
              </a:spcAft>
              <a:defRPr sz="1100" b="1">
                <a:solidFill>
                  <a:srgbClr val="007A78"/>
                </a:solidFill>
                <a:latin typeface="Arial"/>
              </a:defRPr>
            </a:pPr>
            <a:r>
              <a:t>CODEX МОЖЕТ ОШИБАТЬСЯ</a:t>
            </a:r>
          </a:p>
        </p:txBody>
      </p:sp>
      <p:sp>
        <p:nvSpPr>
          <p:cNvPr id="3" name="TextBox 2"/>
          <p:cNvSpPr txBox="1"/>
          <p:nvPr/>
        </p:nvSpPr>
        <p:spPr>
          <a:xfrm>
            <a:off x="502920" y="786384"/>
            <a:ext cx="11064240" cy="594360"/>
          </a:xfrm>
          <a:prstGeom prst="rect">
            <a:avLst/>
          </a:prstGeom>
          <a:noFill/>
        </p:spPr>
        <p:txBody>
          <a:bodyPr wrap="none" lIns="0" rIns="0" tIns="0" bIns="0" anchor="t">
            <a:spAutoFit/>
          </a:bodyPr>
          <a:lstStyle/>
          <a:p>
            <a:pPr>
              <a:lnSpc>
                <a:spcPts val="3596"/>
              </a:lnSpc>
              <a:spcBef>
                <a:spcPts val="0"/>
              </a:spcBef>
              <a:spcAft>
                <a:spcPts val="0"/>
              </a:spcAft>
              <a:defRPr sz="3100" b="1">
                <a:solidFill>
                  <a:srgbClr val="172B3A"/>
                </a:solidFill>
                <a:latin typeface="Arial"/>
              </a:defRPr>
            </a:pPr>
            <a:r>
              <a:t>Проверка важнее уверенного ответа</a:t>
            </a:r>
          </a:p>
        </p:txBody>
      </p:sp>
      <p:cxnSp>
        <p:nvCxnSpPr>
          <p:cNvPr id="4" name="Connector 3"/>
          <p:cNvCxnSpPr/>
          <p:nvPr/>
        </p:nvCxnSpPr>
        <p:spPr>
          <a:xfrm>
            <a:off x="502920" y="6382512"/>
            <a:ext cx="11183112" cy="0"/>
          </a:xfrm>
          <a:prstGeom prst="line">
            <a:avLst/>
          </a:prstGeom>
          <a:ln w="12700">
            <a:solidFill>
              <a:srgbClr val="D8E1E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382512"/>
            <a:ext cx="8946489" cy="0"/>
          </a:xfrm>
          <a:prstGeom prst="line">
            <a:avLst/>
          </a:prstGeom>
          <a:ln w="25400">
            <a:solidFill>
              <a:srgbClr val="007A7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9144000" cy="182880"/>
          </a:xfrm>
          <a:prstGeom prst="rect">
            <a:avLst/>
          </a:prstGeom>
          <a:noFill/>
        </p:spPr>
        <p:txBody>
          <a:bodyPr wrap="none" lIns="0" rIns="0" tIns="0" bIns="0" anchor="t">
            <a:spAutoFit/>
          </a:bodyPr>
          <a:lstStyle/>
          <a:p>
            <a:pPr>
              <a:lnSpc>
                <a:spcPts val="1044"/>
              </a:lnSpc>
              <a:spcBef>
                <a:spcPts val="0"/>
              </a:spcBef>
              <a:spcAft>
                <a:spcPts val="0"/>
              </a:spcAft>
              <a:defRPr sz="900" b="0">
                <a:solidFill>
                  <a:srgbClr val="4B6074"/>
                </a:solidFill>
                <a:latin typeface="Arial"/>
              </a:defRPr>
            </a:pPr>
            <a:r>
              <a:t>ВОЗМОЖНОСТИ CODEX • ИНФОРМАТИКА • 10 КЛАСС</a:t>
            </a:r>
          </a:p>
        </p:txBody>
      </p:sp>
      <p:sp>
        <p:nvSpPr>
          <p:cNvPr id="7" name="TextBox 6"/>
          <p:cNvSpPr txBox="1"/>
          <p:nvPr/>
        </p:nvSpPr>
        <p:spPr>
          <a:xfrm>
            <a:off x="11119104" y="6492240"/>
            <a:ext cx="594360" cy="228600"/>
          </a:xfrm>
          <a:prstGeom prst="rect">
            <a:avLst/>
          </a:prstGeom>
          <a:noFill/>
        </p:spPr>
        <p:txBody>
          <a:bodyPr wrap="none" lIns="0" rIns="0" tIns="0" bIns="0" anchor="t">
            <a:spAutoFit/>
          </a:bodyPr>
          <a:lstStyle/>
          <a:p>
            <a:pPr>
              <a:lnSpc>
                <a:spcPts val="1160"/>
              </a:lnSpc>
              <a:spcBef>
                <a:spcPts val="0"/>
              </a:spcBef>
              <a:spcAft>
                <a:spcPts val="0"/>
              </a:spcAft>
              <a:defRPr sz="1000" b="1">
                <a:solidFill>
                  <a:srgbClr val="4B6074"/>
                </a:solidFill>
                <a:latin typeface="Arial"/>
              </a:defRPr>
            </a:pPr>
            <a:r>
              <a:t>08 / 10</a:t>
            </a:r>
          </a:p>
        </p:txBody>
      </p:sp>
      <p:sp>
        <p:nvSpPr>
          <p:cNvPr id="8" name="Rounded Rectangle 7"/>
          <p:cNvSpPr/>
          <p:nvPr/>
        </p:nvSpPr>
        <p:spPr>
          <a:xfrm>
            <a:off x="548640" y="1993392"/>
            <a:ext cx="6720840" cy="1024128"/>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39696"/>
            <a:ext cx="6217920" cy="329184"/>
          </a:xfrm>
          <a:prstGeom prst="rect">
            <a:avLst/>
          </a:prstGeom>
          <a:noFill/>
        </p:spPr>
        <p:txBody>
          <a:bodyPr wrap="none" lIns="0" rIns="0" tIns="0" bIns="0" anchor="t">
            <a:spAutoFit/>
          </a:bodyPr>
          <a:lstStyle/>
          <a:p>
            <a:pPr>
              <a:lnSpc>
                <a:spcPts val="2320"/>
              </a:lnSpc>
              <a:spcBef>
                <a:spcPts val="0"/>
              </a:spcBef>
              <a:spcAft>
                <a:spcPts val="0"/>
              </a:spcAft>
              <a:defRPr sz="2000" b="1">
                <a:solidFill>
                  <a:srgbClr val="172B3A"/>
                </a:solidFill>
                <a:latin typeface="Arial"/>
              </a:defRPr>
            </a:pPr>
            <a:r>
              <a:t>Нулевой момент</a:t>
            </a:r>
          </a:p>
        </p:txBody>
      </p:sp>
      <p:sp>
        <p:nvSpPr>
          <p:cNvPr id="10" name="TextBox 9"/>
          <p:cNvSpPr txBox="1"/>
          <p:nvPr/>
        </p:nvSpPr>
        <p:spPr>
          <a:xfrm>
            <a:off x="777240" y="2560320"/>
            <a:ext cx="6217920" cy="329184"/>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007A78"/>
                </a:solidFill>
                <a:latin typeface="Arial"/>
              </a:defRPr>
            </a:pPr>
            <a:r>
              <a:t>t = 0 → s = 0</a:t>
            </a:r>
          </a:p>
        </p:txBody>
      </p:sp>
      <p:sp>
        <p:nvSpPr>
          <p:cNvPr id="11" name="Rounded Rectangle 10"/>
          <p:cNvSpPr/>
          <p:nvPr/>
        </p:nvSpPr>
        <p:spPr>
          <a:xfrm>
            <a:off x="548640" y="3236976"/>
            <a:ext cx="6720840" cy="1024128"/>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383280"/>
            <a:ext cx="6217920" cy="329184"/>
          </a:xfrm>
          <a:prstGeom prst="rect">
            <a:avLst/>
          </a:prstGeom>
          <a:noFill/>
        </p:spPr>
        <p:txBody>
          <a:bodyPr wrap="none" lIns="0" rIns="0" tIns="0" bIns="0" anchor="t">
            <a:spAutoFit/>
          </a:bodyPr>
          <a:lstStyle/>
          <a:p>
            <a:pPr>
              <a:lnSpc>
                <a:spcPts val="2320"/>
              </a:lnSpc>
              <a:spcBef>
                <a:spcPts val="0"/>
              </a:spcBef>
              <a:spcAft>
                <a:spcPts val="0"/>
              </a:spcAft>
              <a:defRPr sz="2000" b="1">
                <a:solidFill>
                  <a:srgbClr val="172B3A"/>
                </a:solidFill>
                <a:latin typeface="Arial"/>
              </a:defRPr>
            </a:pPr>
            <a:r>
              <a:t>Без ускорения</a:t>
            </a:r>
          </a:p>
        </p:txBody>
      </p:sp>
      <p:sp>
        <p:nvSpPr>
          <p:cNvPr id="13" name="TextBox 12"/>
          <p:cNvSpPr txBox="1"/>
          <p:nvPr/>
        </p:nvSpPr>
        <p:spPr>
          <a:xfrm>
            <a:off x="777240" y="3803904"/>
            <a:ext cx="6217920" cy="329184"/>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007A78"/>
                </a:solidFill>
                <a:latin typeface="Arial"/>
              </a:defRPr>
            </a:pPr>
            <a:r>
              <a:t>v₀ = 3, a = 0, t = 4 → s = 12</a:t>
            </a:r>
          </a:p>
        </p:txBody>
      </p:sp>
      <p:sp>
        <p:nvSpPr>
          <p:cNvPr id="14" name="Rounded Rectangle 13"/>
          <p:cNvSpPr/>
          <p:nvPr/>
        </p:nvSpPr>
        <p:spPr>
          <a:xfrm>
            <a:off x="548640" y="4480560"/>
            <a:ext cx="6720840" cy="1024128"/>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626864"/>
            <a:ext cx="6217920" cy="329184"/>
          </a:xfrm>
          <a:prstGeom prst="rect">
            <a:avLst/>
          </a:prstGeom>
          <a:noFill/>
        </p:spPr>
        <p:txBody>
          <a:bodyPr wrap="none" lIns="0" rIns="0" tIns="0" bIns="0" anchor="t">
            <a:spAutoFit/>
          </a:bodyPr>
          <a:lstStyle/>
          <a:p>
            <a:pPr>
              <a:lnSpc>
                <a:spcPts val="2320"/>
              </a:lnSpc>
              <a:spcBef>
                <a:spcPts val="0"/>
              </a:spcBef>
              <a:spcAft>
                <a:spcPts val="0"/>
              </a:spcAft>
              <a:defRPr sz="2000" b="1">
                <a:solidFill>
                  <a:srgbClr val="172B3A"/>
                </a:solidFill>
                <a:latin typeface="Arial"/>
              </a:defRPr>
            </a:pPr>
            <a:r>
              <a:t>Контрольный пример</a:t>
            </a:r>
          </a:p>
        </p:txBody>
      </p:sp>
      <p:sp>
        <p:nvSpPr>
          <p:cNvPr id="16" name="TextBox 15"/>
          <p:cNvSpPr txBox="1"/>
          <p:nvPr/>
        </p:nvSpPr>
        <p:spPr>
          <a:xfrm>
            <a:off x="777240" y="5047488"/>
            <a:ext cx="6217920" cy="329184"/>
          </a:xfrm>
          <a:prstGeom prst="rect">
            <a:avLst/>
          </a:prstGeom>
          <a:noFill/>
        </p:spPr>
        <p:txBody>
          <a:bodyPr wrap="none" lIns="0" rIns="0" tIns="0" bIns="0" anchor="t">
            <a:spAutoFit/>
          </a:bodyPr>
          <a:lstStyle/>
          <a:p>
            <a:pPr>
              <a:lnSpc>
                <a:spcPts val="2320"/>
              </a:lnSpc>
              <a:spcBef>
                <a:spcPts val="0"/>
              </a:spcBef>
              <a:spcAft>
                <a:spcPts val="0"/>
              </a:spcAft>
              <a:defRPr sz="2000" b="0">
                <a:solidFill>
                  <a:srgbClr val="007A78"/>
                </a:solidFill>
                <a:latin typeface="Arial"/>
              </a:defRPr>
            </a:pPr>
            <a:r>
              <a:t>v₀ = 2, a = 1, t = 2 → s = 6</a:t>
            </a:r>
          </a:p>
        </p:txBody>
      </p:sp>
      <p:sp>
        <p:nvSpPr>
          <p:cNvPr id="17" name="Rounded Rectangle 16"/>
          <p:cNvSpPr/>
          <p:nvPr/>
        </p:nvSpPr>
        <p:spPr>
          <a:xfrm>
            <a:off x="7635240" y="1993392"/>
            <a:ext cx="4005072" cy="3511296"/>
          </a:xfrm>
          <a:prstGeom prst="roundRect">
            <a:avLst>
              <a:gd name="adj" fmla="val 12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18704" y="2249424"/>
            <a:ext cx="3429000" cy="704088"/>
          </a:xfrm>
          <a:prstGeom prst="rect">
            <a:avLst/>
          </a:prstGeom>
          <a:noFill/>
        </p:spPr>
        <p:txBody>
          <a:bodyPr wrap="none" lIns="0" rIns="0" tIns="0" bIns="0" anchor="t">
            <a:spAutoFit/>
          </a:bodyPr>
          <a:lstStyle/>
          <a:p>
            <a:pPr>
              <a:lnSpc>
                <a:spcPts val="2783"/>
              </a:lnSpc>
              <a:spcBef>
                <a:spcPts val="0"/>
              </a:spcBef>
              <a:spcAft>
                <a:spcPts val="0"/>
              </a:spcAft>
              <a:defRPr sz="2400" b="1">
                <a:solidFill>
                  <a:srgbClr val="96521B"/>
                </a:solidFill>
                <a:latin typeface="Arial"/>
              </a:defRPr>
            </a:pPr>
            <a:r>
              <a:t>Что спросить</a:t>
            </a:r>
          </a:p>
          <a:p>
            <a:pPr>
              <a:lnSpc>
                <a:spcPts val="2783"/>
              </a:lnSpc>
              <a:spcBef>
                <a:spcPts val="0"/>
              </a:spcBef>
              <a:spcAft>
                <a:spcPts val="0"/>
              </a:spcAft>
              <a:defRPr sz="2400" b="1">
                <a:solidFill>
                  <a:srgbClr val="96521B"/>
                </a:solidFill>
                <a:latin typeface="Arial"/>
              </a:defRPr>
            </a:pPr>
            <a:r>
              <a:t>у себя?</a:t>
            </a:r>
          </a:p>
        </p:txBody>
      </p:sp>
      <p:sp>
        <p:nvSpPr>
          <p:cNvPr id="19" name="TextBox 18"/>
          <p:cNvSpPr txBox="1"/>
          <p:nvPr/>
        </p:nvSpPr>
        <p:spPr>
          <a:xfrm>
            <a:off x="7918704" y="3264408"/>
            <a:ext cx="3429000" cy="1911095"/>
          </a:xfrm>
          <a:prstGeom prst="rect">
            <a:avLst/>
          </a:prstGeom>
          <a:noFill/>
        </p:spPr>
        <p:txBody>
          <a:bodyPr wrap="none" lIns="0" rIns="0" tIns="0" bIns="0" anchor="t">
            <a:spAutoFit/>
          </a:bodyPr>
          <a:lstStyle/>
          <a:p>
            <a:pPr>
              <a:lnSpc>
                <a:spcPts val="2800"/>
              </a:lnSpc>
              <a:spcBef>
                <a:spcPts val="0"/>
              </a:spcBef>
              <a:spcAft>
                <a:spcPts val="0"/>
              </a:spcAft>
              <a:defRPr sz="2000" b="0">
                <a:solidFill>
                  <a:srgbClr val="172B3A"/>
                </a:solidFill>
                <a:latin typeface="Arial"/>
              </a:defRPr>
            </a:pPr>
            <a:r>
              <a:t>Верна ли формула?</a:t>
            </a:r>
          </a:p>
          <a:p>
            <a:pPr>
              <a:lnSpc>
                <a:spcPts val="2800"/>
              </a:lnSpc>
              <a:spcBef>
                <a:spcPts val="0"/>
              </a:spcBef>
              <a:spcAft>
                <a:spcPts val="0"/>
              </a:spcAft>
              <a:defRPr sz="2000" b="0">
                <a:solidFill>
                  <a:srgbClr val="172B3A"/>
                </a:solidFill>
                <a:latin typeface="Arial"/>
              </a:defRPr>
            </a:pPr>
            <a:r>
              <a:t>Совпадают ли единицы?</a:t>
            </a:r>
          </a:p>
          <a:p>
            <a:pPr>
              <a:lnSpc>
                <a:spcPts val="2800"/>
              </a:lnSpc>
              <a:spcBef>
                <a:spcPts val="0"/>
              </a:spcBef>
              <a:spcAft>
                <a:spcPts val="0"/>
              </a:spcAft>
              <a:defRPr sz="2000" b="0">
                <a:solidFill>
                  <a:srgbClr val="172B3A"/>
                </a:solidFill>
                <a:latin typeface="Arial"/>
              </a:defRPr>
            </a:pPr>
            <a:r>
              <a:t>Понятен ли ввод?</a:t>
            </a:r>
          </a:p>
          <a:p>
            <a:pPr>
              <a:lnSpc>
                <a:spcPts val="2800"/>
              </a:lnSpc>
              <a:spcBef>
                <a:spcPts val="0"/>
              </a:spcBef>
              <a:spcAft>
                <a:spcPts val="0"/>
              </a:spcAft>
              <a:defRPr sz="2000" b="0">
                <a:solidFill>
                  <a:srgbClr val="172B3A"/>
                </a:solidFill>
                <a:latin typeface="Arial"/>
              </a:defRPr>
            </a:pPr>
            <a:r>
              <a:t>Могу ли объяснить код?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none" lIns="0" rIns="0" tIns="0" bIns="0" anchor="t">
            <a:spAutoFit/>
          </a:bodyPr>
          <a:lstStyle/>
          <a:p>
            <a:pPr>
              <a:lnSpc>
                <a:spcPts val="1276"/>
              </a:lnSpc>
              <a:spcBef>
                <a:spcPts val="0"/>
              </a:spcBef>
              <a:spcAft>
                <a:spcPts val="0"/>
              </a:spcAft>
              <a:defRPr sz="1100" b="1">
                <a:solidFill>
                  <a:srgbClr val="007A78"/>
                </a:solidFill>
                <a:latin typeface="Arial"/>
              </a:defRPr>
            </a:pPr>
            <a:r>
              <a:t>ДОСТУПЫ, ДАННЫЕ И СОБСТВЕННОЕ ПОНИМАНИЕ</a:t>
            </a:r>
          </a:p>
        </p:txBody>
      </p:sp>
      <p:sp>
        <p:nvSpPr>
          <p:cNvPr id="3" name="TextBox 2"/>
          <p:cNvSpPr txBox="1"/>
          <p:nvPr/>
        </p:nvSpPr>
        <p:spPr>
          <a:xfrm>
            <a:off x="502920" y="786384"/>
            <a:ext cx="11064240" cy="594360"/>
          </a:xfrm>
          <a:prstGeom prst="rect">
            <a:avLst/>
          </a:prstGeom>
          <a:noFill/>
        </p:spPr>
        <p:txBody>
          <a:bodyPr wrap="none" lIns="0" rIns="0" tIns="0" bIns="0" anchor="t">
            <a:spAutoFit/>
          </a:bodyPr>
          <a:lstStyle/>
          <a:p>
            <a:pPr>
              <a:lnSpc>
                <a:spcPts val="3596"/>
              </a:lnSpc>
              <a:spcBef>
                <a:spcPts val="0"/>
              </a:spcBef>
              <a:spcAft>
                <a:spcPts val="0"/>
              </a:spcAft>
              <a:defRPr sz="3100" b="1">
                <a:solidFill>
                  <a:srgbClr val="172B3A"/>
                </a:solidFill>
                <a:latin typeface="Arial"/>
              </a:defRPr>
            </a:pPr>
            <a:r>
              <a:t>Работай осознанно</a:t>
            </a:r>
          </a:p>
        </p:txBody>
      </p:sp>
      <p:cxnSp>
        <p:nvCxnSpPr>
          <p:cNvPr id="4" name="Connector 3"/>
          <p:cNvCxnSpPr/>
          <p:nvPr/>
        </p:nvCxnSpPr>
        <p:spPr>
          <a:xfrm>
            <a:off x="502920" y="6382512"/>
            <a:ext cx="11183112" cy="0"/>
          </a:xfrm>
          <a:prstGeom prst="line">
            <a:avLst/>
          </a:prstGeom>
          <a:ln w="12700">
            <a:solidFill>
              <a:srgbClr val="D8E1E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382512"/>
            <a:ext cx="10064800" cy="0"/>
          </a:xfrm>
          <a:prstGeom prst="line">
            <a:avLst/>
          </a:prstGeom>
          <a:ln w="25400">
            <a:solidFill>
              <a:srgbClr val="007A7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9144000" cy="182880"/>
          </a:xfrm>
          <a:prstGeom prst="rect">
            <a:avLst/>
          </a:prstGeom>
          <a:noFill/>
        </p:spPr>
        <p:txBody>
          <a:bodyPr wrap="none" lIns="0" rIns="0" tIns="0" bIns="0" anchor="t">
            <a:spAutoFit/>
          </a:bodyPr>
          <a:lstStyle/>
          <a:p>
            <a:pPr>
              <a:lnSpc>
                <a:spcPts val="1044"/>
              </a:lnSpc>
              <a:spcBef>
                <a:spcPts val="0"/>
              </a:spcBef>
              <a:spcAft>
                <a:spcPts val="0"/>
              </a:spcAft>
              <a:defRPr sz="900" b="0">
                <a:solidFill>
                  <a:srgbClr val="4B6074"/>
                </a:solidFill>
                <a:latin typeface="Arial"/>
              </a:defRPr>
            </a:pPr>
            <a:r>
              <a:t>ВОЗМОЖНОСТИ CODEX • ИНФОРМАТИКА • 10 КЛАСС</a:t>
            </a:r>
          </a:p>
        </p:txBody>
      </p:sp>
      <p:sp>
        <p:nvSpPr>
          <p:cNvPr id="7" name="TextBox 6"/>
          <p:cNvSpPr txBox="1"/>
          <p:nvPr/>
        </p:nvSpPr>
        <p:spPr>
          <a:xfrm>
            <a:off x="11119104" y="6492240"/>
            <a:ext cx="594360" cy="228600"/>
          </a:xfrm>
          <a:prstGeom prst="rect">
            <a:avLst/>
          </a:prstGeom>
          <a:noFill/>
        </p:spPr>
        <p:txBody>
          <a:bodyPr wrap="none" lIns="0" rIns="0" tIns="0" bIns="0" anchor="t">
            <a:spAutoFit/>
          </a:bodyPr>
          <a:lstStyle/>
          <a:p>
            <a:pPr>
              <a:lnSpc>
                <a:spcPts val="1160"/>
              </a:lnSpc>
              <a:spcBef>
                <a:spcPts val="0"/>
              </a:spcBef>
              <a:spcAft>
                <a:spcPts val="0"/>
              </a:spcAft>
              <a:defRPr sz="1000" b="1">
                <a:solidFill>
                  <a:srgbClr val="4B6074"/>
                </a:solidFill>
                <a:latin typeface="Arial"/>
              </a:defRPr>
            </a:pPr>
            <a:r>
              <a:t>09 / 10</a:t>
            </a:r>
          </a:p>
        </p:txBody>
      </p:sp>
      <p:sp>
        <p:nvSpPr>
          <p:cNvPr id="8" name="Rounded Rectangle 7"/>
          <p:cNvSpPr/>
          <p:nvPr/>
        </p:nvSpPr>
        <p:spPr>
          <a:xfrm>
            <a:off x="548640" y="1920240"/>
            <a:ext cx="5394960" cy="1865376"/>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12264"/>
            <a:ext cx="502920" cy="365760"/>
          </a:xfrm>
          <a:prstGeom prst="rect">
            <a:avLst/>
          </a:prstGeom>
          <a:noFill/>
        </p:spPr>
        <p:txBody>
          <a:bodyPr wrap="none" lIns="0" rIns="0" tIns="0" bIns="0" anchor="t">
            <a:spAutoFit/>
          </a:bodyPr>
          <a:lstStyle/>
          <a:p>
            <a:pPr>
              <a:lnSpc>
                <a:spcPts val="2320"/>
              </a:lnSpc>
              <a:spcBef>
                <a:spcPts val="0"/>
              </a:spcBef>
              <a:spcAft>
                <a:spcPts val="0"/>
              </a:spcAft>
              <a:defRPr sz="2000" b="1">
                <a:solidFill>
                  <a:srgbClr val="007A78"/>
                </a:solidFill>
                <a:latin typeface="Arial"/>
              </a:defRPr>
            </a:pPr>
            <a:r>
              <a:t>01</a:t>
            </a:r>
          </a:p>
        </p:txBody>
      </p:sp>
      <p:sp>
        <p:nvSpPr>
          <p:cNvPr id="10" name="TextBox 9"/>
          <p:cNvSpPr txBox="1"/>
          <p:nvPr/>
        </p:nvSpPr>
        <p:spPr>
          <a:xfrm>
            <a:off x="1463040" y="2112264"/>
            <a:ext cx="4206240" cy="411480"/>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Учебная папка</a:t>
            </a:r>
          </a:p>
        </p:txBody>
      </p:sp>
      <p:sp>
        <p:nvSpPr>
          <p:cNvPr id="11" name="TextBox 10"/>
          <p:cNvSpPr txBox="1"/>
          <p:nvPr/>
        </p:nvSpPr>
        <p:spPr>
          <a:xfrm>
            <a:off x="1463040" y="2706624"/>
            <a:ext cx="4206240" cy="822960"/>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4B6074"/>
                </a:solidFill>
                <a:latin typeface="Arial"/>
              </a:defRPr>
            </a:pPr>
            <a:r>
              <a:t>Открывай только файлы,</a:t>
            </a:r>
          </a:p>
          <a:p>
            <a:pPr>
              <a:lnSpc>
                <a:spcPts val="2204"/>
              </a:lnSpc>
              <a:spcBef>
                <a:spcPts val="0"/>
              </a:spcBef>
              <a:spcAft>
                <a:spcPts val="0"/>
              </a:spcAft>
              <a:defRPr sz="1900" b="0">
                <a:solidFill>
                  <a:srgbClr val="4B6074"/>
                </a:solidFill>
                <a:latin typeface="Arial"/>
              </a:defRPr>
            </a:pPr>
            <a:r>
              <a:t>которые нужны для задания.</a:t>
            </a:r>
          </a:p>
        </p:txBody>
      </p:sp>
      <p:sp>
        <p:nvSpPr>
          <p:cNvPr id="12" name="Rounded Rectangle 11"/>
          <p:cNvSpPr/>
          <p:nvPr/>
        </p:nvSpPr>
        <p:spPr>
          <a:xfrm>
            <a:off x="6245352" y="1920240"/>
            <a:ext cx="5394960" cy="1865376"/>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112264"/>
            <a:ext cx="502920" cy="365760"/>
          </a:xfrm>
          <a:prstGeom prst="rect">
            <a:avLst/>
          </a:prstGeom>
          <a:noFill/>
        </p:spPr>
        <p:txBody>
          <a:bodyPr wrap="none" lIns="0" rIns="0" tIns="0" bIns="0" anchor="t">
            <a:spAutoFit/>
          </a:bodyPr>
          <a:lstStyle/>
          <a:p>
            <a:pPr>
              <a:lnSpc>
                <a:spcPts val="2320"/>
              </a:lnSpc>
              <a:spcBef>
                <a:spcPts val="0"/>
              </a:spcBef>
              <a:spcAft>
                <a:spcPts val="0"/>
              </a:spcAft>
              <a:defRPr sz="2000" b="1">
                <a:solidFill>
                  <a:srgbClr val="007A78"/>
                </a:solidFill>
                <a:latin typeface="Arial"/>
              </a:defRPr>
            </a:pPr>
            <a:r>
              <a:t>02</a:t>
            </a:r>
          </a:p>
        </p:txBody>
      </p:sp>
      <p:sp>
        <p:nvSpPr>
          <p:cNvPr id="14" name="TextBox 13"/>
          <p:cNvSpPr txBox="1"/>
          <p:nvPr/>
        </p:nvSpPr>
        <p:spPr>
          <a:xfrm>
            <a:off x="7159752" y="2112264"/>
            <a:ext cx="4206240" cy="411480"/>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Без секретов</a:t>
            </a:r>
          </a:p>
        </p:txBody>
      </p:sp>
      <p:sp>
        <p:nvSpPr>
          <p:cNvPr id="15" name="TextBox 14"/>
          <p:cNvSpPr txBox="1"/>
          <p:nvPr/>
        </p:nvSpPr>
        <p:spPr>
          <a:xfrm>
            <a:off x="7159752" y="2706624"/>
            <a:ext cx="4206240" cy="822960"/>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4B6074"/>
                </a:solidFill>
                <a:latin typeface="Arial"/>
              </a:defRPr>
            </a:pPr>
            <a:r>
              <a:t>Не отправляй пароли, токены</a:t>
            </a:r>
          </a:p>
          <a:p>
            <a:pPr>
              <a:lnSpc>
                <a:spcPts val="2204"/>
              </a:lnSpc>
              <a:spcBef>
                <a:spcPts val="0"/>
              </a:spcBef>
              <a:spcAft>
                <a:spcPts val="0"/>
              </a:spcAft>
              <a:defRPr sz="1900" b="0">
                <a:solidFill>
                  <a:srgbClr val="4B6074"/>
                </a:solidFill>
                <a:latin typeface="Arial"/>
              </a:defRPr>
            </a:pPr>
            <a:r>
              <a:t>и личные данные.</a:t>
            </a:r>
          </a:p>
        </p:txBody>
      </p:sp>
      <p:sp>
        <p:nvSpPr>
          <p:cNvPr id="16" name="Rounded Rectangle 15"/>
          <p:cNvSpPr/>
          <p:nvPr/>
        </p:nvSpPr>
        <p:spPr>
          <a:xfrm>
            <a:off x="548640" y="3977639"/>
            <a:ext cx="5394960" cy="1865376"/>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69663"/>
            <a:ext cx="502920" cy="365760"/>
          </a:xfrm>
          <a:prstGeom prst="rect">
            <a:avLst/>
          </a:prstGeom>
          <a:noFill/>
        </p:spPr>
        <p:txBody>
          <a:bodyPr wrap="none" lIns="0" rIns="0" tIns="0" bIns="0" anchor="t">
            <a:spAutoFit/>
          </a:bodyPr>
          <a:lstStyle/>
          <a:p>
            <a:pPr>
              <a:lnSpc>
                <a:spcPts val="2320"/>
              </a:lnSpc>
              <a:spcBef>
                <a:spcPts val="0"/>
              </a:spcBef>
              <a:spcAft>
                <a:spcPts val="0"/>
              </a:spcAft>
              <a:defRPr sz="2000" b="1">
                <a:solidFill>
                  <a:srgbClr val="007A78"/>
                </a:solidFill>
                <a:latin typeface="Arial"/>
              </a:defRPr>
            </a:pPr>
            <a:r>
              <a:t>03</a:t>
            </a:r>
          </a:p>
        </p:txBody>
      </p:sp>
      <p:sp>
        <p:nvSpPr>
          <p:cNvPr id="18" name="TextBox 17"/>
          <p:cNvSpPr txBox="1"/>
          <p:nvPr/>
        </p:nvSpPr>
        <p:spPr>
          <a:xfrm>
            <a:off x="1463040" y="4169663"/>
            <a:ext cx="4206240" cy="411480"/>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Понятные действия</a:t>
            </a:r>
          </a:p>
        </p:txBody>
      </p:sp>
      <p:sp>
        <p:nvSpPr>
          <p:cNvPr id="19" name="TextBox 18"/>
          <p:cNvSpPr txBox="1"/>
          <p:nvPr/>
        </p:nvSpPr>
        <p:spPr>
          <a:xfrm>
            <a:off x="1463040" y="4764024"/>
            <a:ext cx="4206240" cy="822960"/>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4B6074"/>
                </a:solidFill>
                <a:latin typeface="Arial"/>
              </a:defRPr>
            </a:pPr>
            <a:r>
              <a:t>Перед запуском команды</a:t>
            </a:r>
          </a:p>
          <a:p>
            <a:pPr>
              <a:lnSpc>
                <a:spcPts val="2204"/>
              </a:lnSpc>
              <a:spcBef>
                <a:spcPts val="0"/>
              </a:spcBef>
              <a:spcAft>
                <a:spcPts val="0"/>
              </a:spcAft>
              <a:defRPr sz="1900" b="0">
                <a:solidFill>
                  <a:srgbClr val="4B6074"/>
                </a:solidFill>
                <a:latin typeface="Arial"/>
              </a:defRPr>
            </a:pPr>
            <a:r>
              <a:t>прочитай, что она изменит.</a:t>
            </a:r>
          </a:p>
        </p:txBody>
      </p:sp>
      <p:sp>
        <p:nvSpPr>
          <p:cNvPr id="20" name="Rounded Rectangle 19"/>
          <p:cNvSpPr/>
          <p:nvPr/>
        </p:nvSpPr>
        <p:spPr>
          <a:xfrm>
            <a:off x="6245352" y="3977639"/>
            <a:ext cx="5394960" cy="1865376"/>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4169663"/>
            <a:ext cx="502920" cy="365760"/>
          </a:xfrm>
          <a:prstGeom prst="rect">
            <a:avLst/>
          </a:prstGeom>
          <a:noFill/>
        </p:spPr>
        <p:txBody>
          <a:bodyPr wrap="none" lIns="0" rIns="0" tIns="0" bIns="0" anchor="t">
            <a:spAutoFit/>
          </a:bodyPr>
          <a:lstStyle/>
          <a:p>
            <a:pPr>
              <a:lnSpc>
                <a:spcPts val="2320"/>
              </a:lnSpc>
              <a:spcBef>
                <a:spcPts val="0"/>
              </a:spcBef>
              <a:spcAft>
                <a:spcPts val="0"/>
              </a:spcAft>
              <a:defRPr sz="2000" b="1">
                <a:solidFill>
                  <a:srgbClr val="007A78"/>
                </a:solidFill>
                <a:latin typeface="Arial"/>
              </a:defRPr>
            </a:pPr>
            <a:r>
              <a:t>04</a:t>
            </a:r>
          </a:p>
        </p:txBody>
      </p:sp>
      <p:sp>
        <p:nvSpPr>
          <p:cNvPr id="22" name="TextBox 21"/>
          <p:cNvSpPr txBox="1"/>
          <p:nvPr/>
        </p:nvSpPr>
        <p:spPr>
          <a:xfrm>
            <a:off x="7159752" y="4169663"/>
            <a:ext cx="4206240" cy="411480"/>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Своё понимание</a:t>
            </a:r>
          </a:p>
        </p:txBody>
      </p:sp>
      <p:sp>
        <p:nvSpPr>
          <p:cNvPr id="23" name="TextBox 22"/>
          <p:cNvSpPr txBox="1"/>
          <p:nvPr/>
        </p:nvSpPr>
        <p:spPr>
          <a:xfrm>
            <a:off x="7159752" y="4764024"/>
            <a:ext cx="4206240" cy="822960"/>
          </a:xfrm>
          <a:prstGeom prst="rect">
            <a:avLst/>
          </a:prstGeom>
          <a:noFill/>
        </p:spPr>
        <p:txBody>
          <a:bodyPr wrap="none" lIns="0" rIns="0" tIns="0" bIns="0" anchor="t">
            <a:spAutoFit/>
          </a:bodyPr>
          <a:lstStyle/>
          <a:p>
            <a:pPr>
              <a:lnSpc>
                <a:spcPts val="2204"/>
              </a:lnSpc>
              <a:spcBef>
                <a:spcPts val="0"/>
              </a:spcBef>
              <a:spcAft>
                <a:spcPts val="0"/>
              </a:spcAft>
              <a:defRPr sz="1900" b="0">
                <a:solidFill>
                  <a:srgbClr val="4B6074"/>
                </a:solidFill>
                <a:latin typeface="Arial"/>
              </a:defRPr>
            </a:pPr>
            <a:r>
              <a:t>Объясняй результат</a:t>
            </a:r>
          </a:p>
          <a:p>
            <a:pPr>
              <a:lnSpc>
                <a:spcPts val="2204"/>
              </a:lnSpc>
              <a:spcBef>
                <a:spcPts val="0"/>
              </a:spcBef>
              <a:spcAft>
                <a:spcPts val="0"/>
              </a:spcAft>
              <a:defRPr sz="1900" b="0">
                <a:solidFill>
                  <a:srgbClr val="4B6074"/>
                </a:solidFill>
                <a:latin typeface="Arial"/>
              </a:defRPr>
            </a:pPr>
            <a:r>
              <a:t>своими словами.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C"/>
        </a:solidFill>
        <a:effectLst/>
      </p:bgPr>
    </p:bg>
    <p:spTree>
      <p:nvGrpSpPr>
        <p:cNvPr id="1" name=""/>
        <p:cNvGrpSpPr/>
        <p:nvPr/>
      </p:nvGrpSpPr>
      <p:grpSpPr/>
      <p:sp>
        <p:nvSpPr>
          <p:cNvPr id="2" name="TextBox 1"/>
          <p:cNvSpPr txBox="1"/>
          <p:nvPr/>
        </p:nvSpPr>
        <p:spPr>
          <a:xfrm>
            <a:off x="502920" y="292608"/>
            <a:ext cx="10058400" cy="274320"/>
          </a:xfrm>
          <a:prstGeom prst="rect">
            <a:avLst/>
          </a:prstGeom>
          <a:noFill/>
        </p:spPr>
        <p:txBody>
          <a:bodyPr wrap="none" lIns="0" rIns="0" tIns="0" bIns="0" anchor="t">
            <a:spAutoFit/>
          </a:bodyPr>
          <a:lstStyle/>
          <a:p>
            <a:pPr>
              <a:lnSpc>
                <a:spcPts val="1276"/>
              </a:lnSpc>
              <a:spcBef>
                <a:spcPts val="0"/>
              </a:spcBef>
              <a:spcAft>
                <a:spcPts val="0"/>
              </a:spcAft>
              <a:defRPr sz="1100" b="1">
                <a:solidFill>
                  <a:srgbClr val="007A78"/>
                </a:solidFill>
                <a:latin typeface="Arial"/>
              </a:defRPr>
            </a:pPr>
            <a:r>
              <a:t>10 МИНУТ • РАБОТА В ПАРЕ</a:t>
            </a:r>
          </a:p>
        </p:txBody>
      </p:sp>
      <p:sp>
        <p:nvSpPr>
          <p:cNvPr id="3" name="TextBox 2"/>
          <p:cNvSpPr txBox="1"/>
          <p:nvPr/>
        </p:nvSpPr>
        <p:spPr>
          <a:xfrm>
            <a:off x="502920" y="786384"/>
            <a:ext cx="11064240" cy="594360"/>
          </a:xfrm>
          <a:prstGeom prst="rect">
            <a:avLst/>
          </a:prstGeom>
          <a:noFill/>
        </p:spPr>
        <p:txBody>
          <a:bodyPr wrap="none" lIns="0" rIns="0" tIns="0" bIns="0" anchor="t">
            <a:spAutoFit/>
          </a:bodyPr>
          <a:lstStyle/>
          <a:p>
            <a:pPr>
              <a:lnSpc>
                <a:spcPts val="3596"/>
              </a:lnSpc>
              <a:spcBef>
                <a:spcPts val="0"/>
              </a:spcBef>
              <a:spcAft>
                <a:spcPts val="0"/>
              </a:spcAft>
              <a:defRPr sz="3100" b="1">
                <a:solidFill>
                  <a:srgbClr val="172B3A"/>
                </a:solidFill>
                <a:latin typeface="Arial"/>
              </a:defRPr>
            </a:pPr>
            <a:r>
              <a:t>Практика: создай и проверь</a:t>
            </a:r>
          </a:p>
        </p:txBody>
      </p:sp>
      <p:cxnSp>
        <p:nvCxnSpPr>
          <p:cNvPr id="4" name="Connector 3"/>
          <p:cNvCxnSpPr/>
          <p:nvPr/>
        </p:nvCxnSpPr>
        <p:spPr>
          <a:xfrm>
            <a:off x="502920" y="6382512"/>
            <a:ext cx="11183112" cy="0"/>
          </a:xfrm>
          <a:prstGeom prst="line">
            <a:avLst/>
          </a:prstGeom>
          <a:ln w="12700">
            <a:solidFill>
              <a:srgbClr val="D8E1E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6382512"/>
            <a:ext cx="11183112" cy="0"/>
          </a:xfrm>
          <a:prstGeom prst="line">
            <a:avLst/>
          </a:prstGeom>
          <a:ln w="25400">
            <a:solidFill>
              <a:srgbClr val="007A7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9144000" cy="182880"/>
          </a:xfrm>
          <a:prstGeom prst="rect">
            <a:avLst/>
          </a:prstGeom>
          <a:noFill/>
        </p:spPr>
        <p:txBody>
          <a:bodyPr wrap="none" lIns="0" rIns="0" tIns="0" bIns="0" anchor="t">
            <a:spAutoFit/>
          </a:bodyPr>
          <a:lstStyle/>
          <a:p>
            <a:pPr>
              <a:lnSpc>
                <a:spcPts val="1044"/>
              </a:lnSpc>
              <a:spcBef>
                <a:spcPts val="0"/>
              </a:spcBef>
              <a:spcAft>
                <a:spcPts val="0"/>
              </a:spcAft>
              <a:defRPr sz="900" b="0">
                <a:solidFill>
                  <a:srgbClr val="4B6074"/>
                </a:solidFill>
                <a:latin typeface="Arial"/>
              </a:defRPr>
            </a:pPr>
            <a:r>
              <a:t>ВОЗМОЖНОСТИ CODEX • ИНФОРМАТИКА • 10 КЛАСС</a:t>
            </a:r>
          </a:p>
        </p:txBody>
      </p:sp>
      <p:sp>
        <p:nvSpPr>
          <p:cNvPr id="7" name="TextBox 6"/>
          <p:cNvSpPr txBox="1"/>
          <p:nvPr/>
        </p:nvSpPr>
        <p:spPr>
          <a:xfrm>
            <a:off x="11119104" y="6492240"/>
            <a:ext cx="594360" cy="228600"/>
          </a:xfrm>
          <a:prstGeom prst="rect">
            <a:avLst/>
          </a:prstGeom>
          <a:noFill/>
        </p:spPr>
        <p:txBody>
          <a:bodyPr wrap="none" lIns="0" rIns="0" tIns="0" bIns="0" anchor="t">
            <a:spAutoFit/>
          </a:bodyPr>
          <a:lstStyle/>
          <a:p>
            <a:pPr>
              <a:lnSpc>
                <a:spcPts val="1160"/>
              </a:lnSpc>
              <a:spcBef>
                <a:spcPts val="0"/>
              </a:spcBef>
              <a:spcAft>
                <a:spcPts val="0"/>
              </a:spcAft>
              <a:defRPr sz="1000" b="1">
                <a:solidFill>
                  <a:srgbClr val="4B6074"/>
                </a:solidFill>
                <a:latin typeface="Arial"/>
              </a:defRPr>
            </a:pPr>
            <a:r>
              <a:t>10 / 10</a:t>
            </a:r>
          </a:p>
        </p:txBody>
      </p:sp>
      <p:sp>
        <p:nvSpPr>
          <p:cNvPr id="8" name="Rounded Rectangle 7"/>
          <p:cNvSpPr/>
          <p:nvPr/>
        </p:nvSpPr>
        <p:spPr>
          <a:xfrm>
            <a:off x="548640" y="1874519"/>
            <a:ext cx="3520440" cy="2670048"/>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12263"/>
            <a:ext cx="306324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2 мин</a:t>
            </a:r>
          </a:p>
        </p:txBody>
      </p:sp>
      <p:sp>
        <p:nvSpPr>
          <p:cNvPr id="10" name="TextBox 9"/>
          <p:cNvSpPr txBox="1"/>
          <p:nvPr/>
        </p:nvSpPr>
        <p:spPr>
          <a:xfrm>
            <a:off x="777240" y="2734056"/>
            <a:ext cx="306324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Сформулируй</a:t>
            </a:r>
          </a:p>
        </p:txBody>
      </p:sp>
      <p:sp>
        <p:nvSpPr>
          <p:cNvPr id="11" name="TextBox 10"/>
          <p:cNvSpPr txBox="1"/>
          <p:nvPr/>
        </p:nvSpPr>
        <p:spPr>
          <a:xfrm>
            <a:off x="777240" y="3456432"/>
            <a:ext cx="3063240" cy="950976"/>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Опиши калькулятор</a:t>
            </a:r>
          </a:p>
          <a:p>
            <a:pPr>
              <a:lnSpc>
                <a:spcPts val="2088"/>
              </a:lnSpc>
              <a:spcBef>
                <a:spcPts val="0"/>
              </a:spcBef>
              <a:spcAft>
                <a:spcPts val="0"/>
              </a:spcAft>
              <a:defRPr sz="1800" b="0">
                <a:solidFill>
                  <a:srgbClr val="4B6074"/>
                </a:solidFill>
                <a:latin typeface="Arial"/>
              </a:defRPr>
            </a:pPr>
            <a:r>
              <a:t>и ожидаемый результат.</a:t>
            </a:r>
          </a:p>
        </p:txBody>
      </p:sp>
      <p:sp>
        <p:nvSpPr>
          <p:cNvPr id="12" name="Rounded Rectangle 11"/>
          <p:cNvSpPr/>
          <p:nvPr/>
        </p:nvSpPr>
        <p:spPr>
          <a:xfrm>
            <a:off x="4334255" y="1874519"/>
            <a:ext cx="3520440" cy="2670048"/>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5" y="2112263"/>
            <a:ext cx="306324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5 мин</a:t>
            </a:r>
          </a:p>
        </p:txBody>
      </p:sp>
      <p:sp>
        <p:nvSpPr>
          <p:cNvPr id="14" name="TextBox 13"/>
          <p:cNvSpPr txBox="1"/>
          <p:nvPr/>
        </p:nvSpPr>
        <p:spPr>
          <a:xfrm>
            <a:off x="4562855" y="2734056"/>
            <a:ext cx="306324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Создай</a:t>
            </a:r>
          </a:p>
        </p:txBody>
      </p:sp>
      <p:sp>
        <p:nvSpPr>
          <p:cNvPr id="15" name="TextBox 14"/>
          <p:cNvSpPr txBox="1"/>
          <p:nvPr/>
        </p:nvSpPr>
        <p:spPr>
          <a:xfrm>
            <a:off x="4562855" y="3456432"/>
            <a:ext cx="3063240" cy="950976"/>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Получи прототип</a:t>
            </a:r>
          </a:p>
          <a:p>
            <a:pPr>
              <a:lnSpc>
                <a:spcPts val="2088"/>
              </a:lnSpc>
              <a:spcBef>
                <a:spcPts val="0"/>
              </a:spcBef>
              <a:spcAft>
                <a:spcPts val="0"/>
              </a:spcAft>
              <a:defRPr sz="1800" b="0">
                <a:solidFill>
                  <a:srgbClr val="4B6074"/>
                </a:solidFill>
                <a:latin typeface="Arial"/>
              </a:defRPr>
            </a:pPr>
            <a:r>
              <a:t>и открой его.</a:t>
            </a:r>
          </a:p>
        </p:txBody>
      </p:sp>
      <p:sp>
        <p:nvSpPr>
          <p:cNvPr id="16" name="Rounded Rectangle 15"/>
          <p:cNvSpPr/>
          <p:nvPr/>
        </p:nvSpPr>
        <p:spPr>
          <a:xfrm>
            <a:off x="8119871" y="1874519"/>
            <a:ext cx="3520440" cy="2670048"/>
          </a:xfrm>
          <a:prstGeom prst="roundRect">
            <a:avLst>
              <a:gd name="adj" fmla="val 12000"/>
            </a:avLst>
          </a:prstGeom>
          <a:solidFill>
            <a:srgbClr val="FFFFFF"/>
          </a:solidFill>
          <a:ln w="10160">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1" y="2112263"/>
            <a:ext cx="3063240" cy="411480"/>
          </a:xfrm>
          <a:prstGeom prst="rect">
            <a:avLst/>
          </a:prstGeom>
          <a:noFill/>
        </p:spPr>
        <p:txBody>
          <a:bodyPr wrap="none" lIns="0" rIns="0" tIns="0" bIns="0" anchor="t">
            <a:spAutoFit/>
          </a:bodyPr>
          <a:lstStyle/>
          <a:p>
            <a:pPr>
              <a:lnSpc>
                <a:spcPts val="2899"/>
              </a:lnSpc>
              <a:spcBef>
                <a:spcPts val="0"/>
              </a:spcBef>
              <a:spcAft>
                <a:spcPts val="0"/>
              </a:spcAft>
              <a:defRPr sz="2500" b="1">
                <a:solidFill>
                  <a:srgbClr val="007A78"/>
                </a:solidFill>
                <a:latin typeface="Arial"/>
              </a:defRPr>
            </a:pPr>
            <a:r>
              <a:t>3 мин</a:t>
            </a:r>
          </a:p>
        </p:txBody>
      </p:sp>
      <p:sp>
        <p:nvSpPr>
          <p:cNvPr id="18" name="TextBox 17"/>
          <p:cNvSpPr txBox="1"/>
          <p:nvPr/>
        </p:nvSpPr>
        <p:spPr>
          <a:xfrm>
            <a:off x="8348471" y="2734056"/>
            <a:ext cx="3063240" cy="621792"/>
          </a:xfrm>
          <a:prstGeom prst="rect">
            <a:avLst/>
          </a:prstGeom>
          <a:noFill/>
        </p:spPr>
        <p:txBody>
          <a:bodyPr wrap="none" lIns="0" rIns="0" tIns="0" bIns="0" anchor="t">
            <a:spAutoFit/>
          </a:bodyPr>
          <a:lstStyle/>
          <a:p>
            <a:pPr>
              <a:lnSpc>
                <a:spcPts val="2552"/>
              </a:lnSpc>
              <a:spcBef>
                <a:spcPts val="0"/>
              </a:spcBef>
              <a:spcAft>
                <a:spcPts val="0"/>
              </a:spcAft>
              <a:defRPr sz="2200" b="1">
                <a:solidFill>
                  <a:srgbClr val="172B3A"/>
                </a:solidFill>
                <a:latin typeface="Arial"/>
              </a:defRPr>
            </a:pPr>
            <a:r>
              <a:t>Проверь</a:t>
            </a:r>
          </a:p>
        </p:txBody>
      </p:sp>
      <p:sp>
        <p:nvSpPr>
          <p:cNvPr id="19" name="TextBox 18"/>
          <p:cNvSpPr txBox="1"/>
          <p:nvPr/>
        </p:nvSpPr>
        <p:spPr>
          <a:xfrm>
            <a:off x="8348471" y="3456432"/>
            <a:ext cx="3063240" cy="950976"/>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Проведи три проверки</a:t>
            </a:r>
          </a:p>
          <a:p>
            <a:pPr>
              <a:lnSpc>
                <a:spcPts val="2088"/>
              </a:lnSpc>
              <a:spcBef>
                <a:spcPts val="0"/>
              </a:spcBef>
              <a:spcAft>
                <a:spcPts val="0"/>
              </a:spcAft>
              <a:defRPr sz="1800" b="0">
                <a:solidFill>
                  <a:srgbClr val="4B6074"/>
                </a:solidFill>
                <a:latin typeface="Arial"/>
              </a:defRPr>
            </a:pPr>
            <a:r>
              <a:t>и объясни результат.</a:t>
            </a:r>
          </a:p>
        </p:txBody>
      </p:sp>
      <p:sp>
        <p:nvSpPr>
          <p:cNvPr id="20" name="Rounded Rectangle 19"/>
          <p:cNvSpPr/>
          <p:nvPr/>
        </p:nvSpPr>
        <p:spPr>
          <a:xfrm>
            <a:off x="548640" y="4846320"/>
            <a:ext cx="11091672" cy="685800"/>
          </a:xfrm>
          <a:prstGeom prst="roundRect">
            <a:avLst>
              <a:gd name="adj" fmla="val 12000"/>
            </a:avLst>
          </a:prstGeom>
          <a:solidFill>
            <a:srgbClr val="14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020056"/>
            <a:ext cx="10561320" cy="365760"/>
          </a:xfrm>
          <a:prstGeom prst="rect">
            <a:avLst/>
          </a:prstGeom>
          <a:noFill/>
        </p:spPr>
        <p:txBody>
          <a:bodyPr wrap="none" lIns="0" rIns="0" tIns="0" bIns="0" anchor="t">
            <a:spAutoFit/>
          </a:bodyPr>
          <a:lstStyle/>
          <a:p>
            <a:pPr>
              <a:lnSpc>
                <a:spcPts val="2668"/>
              </a:lnSpc>
              <a:spcBef>
                <a:spcPts val="0"/>
              </a:spcBef>
              <a:spcAft>
                <a:spcPts val="0"/>
              </a:spcAft>
              <a:defRPr sz="2300" b="1">
                <a:solidFill>
                  <a:srgbClr val="FFFFFF"/>
                </a:solidFill>
                <a:latin typeface="Arial"/>
              </a:defRPr>
            </a:pPr>
            <a:r>
              <a:t>Критерий успеха: работает, проверено и понятно тебе.</a:t>
            </a:r>
          </a:p>
        </p:txBody>
      </p:sp>
      <p:sp>
        <p:nvSpPr>
          <p:cNvPr id="22" name="TextBox 21"/>
          <p:cNvSpPr txBox="1"/>
          <p:nvPr/>
        </p:nvSpPr>
        <p:spPr>
          <a:xfrm>
            <a:off x="594360" y="5797296"/>
            <a:ext cx="10972800" cy="384048"/>
          </a:xfrm>
          <a:prstGeom prst="rect">
            <a:avLst/>
          </a:prstGeom>
          <a:noFill/>
        </p:spPr>
        <p:txBody>
          <a:bodyPr wrap="none" lIns="0" rIns="0" tIns="0" bIns="0" anchor="t">
            <a:spAutoFit/>
          </a:bodyPr>
          <a:lstStyle/>
          <a:p>
            <a:pPr>
              <a:lnSpc>
                <a:spcPts val="2088"/>
              </a:lnSpc>
              <a:spcBef>
                <a:spcPts val="0"/>
              </a:spcBef>
              <a:spcAft>
                <a:spcPts val="0"/>
              </a:spcAft>
              <a:defRPr sz="1800" b="0">
                <a:solidFill>
                  <a:srgbClr val="4B6074"/>
                </a:solidFill>
                <a:latin typeface="Arial"/>
              </a:defRPr>
            </a:pPr>
            <a:r>
              <a:t>Нет доступа? Составьте запрос и проверьте план друг друга.</a:t>
            </a:r>
          </a:p>
        </p:txBody>
      </p:sp>
      <p:sp>
        <p:nvSpPr>
          <p:cNvPr id="23" name="Rectangle 22"/>
          <p:cNvSpPr/>
          <p:nvPr/>
        </p:nvSpPr>
        <p:spPr>
          <a:xfrm>
            <a:off x="475488" y="6464808"/>
            <a:ext cx="10241280" cy="283464"/>
          </a:xfrm>
          <a:prstGeom prst="rect">
            <a:avLst/>
          </a:prstGeom>
          <a:solidFill>
            <a:srgbClr val="F5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510528"/>
            <a:ext cx="10149840" cy="210312"/>
          </a:xfrm>
          <a:prstGeom prst="rect">
            <a:avLst/>
          </a:prstGeom>
          <a:noFill/>
        </p:spPr>
        <p:txBody>
          <a:bodyPr wrap="none" lIns="0" rIns="0" tIns="0" bIns="0" anchor="t">
            <a:spAutoFit/>
          </a:bodyPr>
          <a:lstStyle/>
          <a:p>
            <a:pPr>
              <a:lnSpc>
                <a:spcPts val="1044"/>
              </a:lnSpc>
              <a:spcBef>
                <a:spcPts val="0"/>
              </a:spcBef>
              <a:spcAft>
                <a:spcPts val="0"/>
              </a:spcAft>
              <a:defRPr sz="900" b="0">
                <a:solidFill>
                  <a:srgbClr val="4B6074"/>
                </a:solidFill>
                <a:latin typeface="Arial"/>
              </a:defRPr>
            </a:pPr>
            <a:r>
              <a:t>Источники: github.com/openai/codex • developers.openai.com/codex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Возможности Codex — 10 класс</dc:title>
  <dc:subject>Как ставить задачи, создавать учебные проекты и проверять результаты</dc:subject>
  <dc:creator>Учебные материалы</dc:creator>
  <cp:keywords>Codex, OpenAI, 10 класс, информатика, учебный проект</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